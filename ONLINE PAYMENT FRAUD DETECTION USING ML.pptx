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Rakkas" charset="1" panose="00000500000000000000"/>
      <p:regular r:id="rId21"/>
    </p:embeddedFont>
    <p:embeddedFont>
      <p:font typeface="Times New Roman" charset="1" panose="02020603050405020304"/>
      <p:regular r:id="rId22"/>
    </p:embeddedFont>
    <p:embeddedFont>
      <p:font typeface="Roca One Bold" charset="1" panose="00000800000000000000"/>
      <p:regular r:id="rId23"/>
    </p:embeddedFont>
    <p:embeddedFont>
      <p:font typeface="Canva Sans" charset="1" panose="020B0503030501040103"/>
      <p:regular r:id="rId24"/>
    </p:embeddedFont>
    <p:embeddedFont>
      <p:font typeface="Times New Roman Bold" charset="1" panose="02020803070505020304"/>
      <p:regular r:id="rId25"/>
    </p:embeddedFont>
    <p:embeddedFont>
      <p:font typeface="Roca One" charset="1" panose="000005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embeddings/oleObject1.bin" Type="http://schemas.openxmlformats.org/officeDocument/2006/relationships/oleObjec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0.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5597" t="0" r="-15597" b="0"/>
            </a:stretch>
          </a:blipFill>
        </p:spPr>
      </p:sp>
      <p:grpSp>
        <p:nvGrpSpPr>
          <p:cNvPr name="Group 3" id="3"/>
          <p:cNvGrpSpPr/>
          <p:nvPr/>
        </p:nvGrpSpPr>
        <p:grpSpPr>
          <a:xfrm rot="0">
            <a:off x="-235271" y="4565874"/>
            <a:ext cx="5902101" cy="7974702"/>
            <a:chOff x="0" y="0"/>
            <a:chExt cx="7869467" cy="10632936"/>
          </a:xfrm>
        </p:grpSpPr>
        <p:sp>
          <p:nvSpPr>
            <p:cNvPr name="Freeform 4" id="4"/>
            <p:cNvSpPr/>
            <p:nvPr/>
          </p:nvSpPr>
          <p:spPr>
            <a:xfrm flipH="false" flipV="false" rot="0">
              <a:off x="0" y="0"/>
              <a:ext cx="7869467" cy="7869467"/>
            </a:xfrm>
            <a:custGeom>
              <a:avLst/>
              <a:gdLst/>
              <a:ahLst/>
              <a:cxnLst/>
              <a:rect r="r" b="b" t="t" l="l"/>
              <a:pathLst>
                <a:path h="7869467" w="7869467">
                  <a:moveTo>
                    <a:pt x="0" y="0"/>
                  </a:moveTo>
                  <a:lnTo>
                    <a:pt x="7869467" y="0"/>
                  </a:lnTo>
                  <a:lnTo>
                    <a:pt x="7869467" y="7869467"/>
                  </a:lnTo>
                  <a:lnTo>
                    <a:pt x="0" y="78694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313695" y="6497867"/>
              <a:ext cx="7555772" cy="4135068"/>
            </a:xfrm>
            <a:custGeom>
              <a:avLst/>
              <a:gdLst/>
              <a:ahLst/>
              <a:cxnLst/>
              <a:rect r="r" b="b" t="t" l="l"/>
              <a:pathLst>
                <a:path h="4135068" w="7555772">
                  <a:moveTo>
                    <a:pt x="0" y="0"/>
                  </a:moveTo>
                  <a:lnTo>
                    <a:pt x="7555772" y="0"/>
                  </a:lnTo>
                  <a:lnTo>
                    <a:pt x="7555772" y="4135069"/>
                  </a:lnTo>
                  <a:lnTo>
                    <a:pt x="0" y="41350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6" id="6"/>
          <p:cNvGrpSpPr/>
          <p:nvPr/>
        </p:nvGrpSpPr>
        <p:grpSpPr>
          <a:xfrm rot="-10800000">
            <a:off x="12385899" y="-2268953"/>
            <a:ext cx="5902101" cy="7974702"/>
            <a:chOff x="0" y="0"/>
            <a:chExt cx="7869467" cy="10632936"/>
          </a:xfrm>
        </p:grpSpPr>
        <p:sp>
          <p:nvSpPr>
            <p:cNvPr name="Freeform 7" id="7"/>
            <p:cNvSpPr/>
            <p:nvPr/>
          </p:nvSpPr>
          <p:spPr>
            <a:xfrm flipH="false" flipV="false" rot="0">
              <a:off x="0" y="0"/>
              <a:ext cx="7869467" cy="7869467"/>
            </a:xfrm>
            <a:custGeom>
              <a:avLst/>
              <a:gdLst/>
              <a:ahLst/>
              <a:cxnLst/>
              <a:rect r="r" b="b" t="t" l="l"/>
              <a:pathLst>
                <a:path h="7869467" w="7869467">
                  <a:moveTo>
                    <a:pt x="0" y="0"/>
                  </a:moveTo>
                  <a:lnTo>
                    <a:pt x="7869467" y="0"/>
                  </a:lnTo>
                  <a:lnTo>
                    <a:pt x="7869467" y="7869467"/>
                  </a:lnTo>
                  <a:lnTo>
                    <a:pt x="0" y="78694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313695" y="6497867"/>
              <a:ext cx="7555772" cy="4135068"/>
            </a:xfrm>
            <a:custGeom>
              <a:avLst/>
              <a:gdLst/>
              <a:ahLst/>
              <a:cxnLst/>
              <a:rect r="r" b="b" t="t" l="l"/>
              <a:pathLst>
                <a:path h="4135068" w="7555772">
                  <a:moveTo>
                    <a:pt x="0" y="0"/>
                  </a:moveTo>
                  <a:lnTo>
                    <a:pt x="7555772" y="0"/>
                  </a:lnTo>
                  <a:lnTo>
                    <a:pt x="7555772" y="4135069"/>
                  </a:lnTo>
                  <a:lnTo>
                    <a:pt x="0" y="41350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9" id="9"/>
          <p:cNvSpPr/>
          <p:nvPr/>
        </p:nvSpPr>
        <p:spPr>
          <a:xfrm flipH="false" flipV="false" rot="0">
            <a:off x="-1141632" y="-844246"/>
            <a:ext cx="4054948" cy="4114800"/>
          </a:xfrm>
          <a:custGeom>
            <a:avLst/>
            <a:gdLst/>
            <a:ahLst/>
            <a:cxnLst/>
            <a:rect r="r" b="b" t="t" l="l"/>
            <a:pathLst>
              <a:path h="4114800" w="4054948">
                <a:moveTo>
                  <a:pt x="0" y="0"/>
                </a:moveTo>
                <a:lnTo>
                  <a:pt x="4054948" y="0"/>
                </a:lnTo>
                <a:lnTo>
                  <a:pt x="4054948"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true" flipV="true" rot="0">
            <a:off x="16884370" y="7044598"/>
            <a:ext cx="4054948" cy="4114800"/>
          </a:xfrm>
          <a:custGeom>
            <a:avLst/>
            <a:gdLst/>
            <a:ahLst/>
            <a:cxnLst/>
            <a:rect r="r" b="b" t="t" l="l"/>
            <a:pathLst>
              <a:path h="4114800" w="4054948">
                <a:moveTo>
                  <a:pt x="4054949" y="4114800"/>
                </a:moveTo>
                <a:lnTo>
                  <a:pt x="0" y="4114800"/>
                </a:lnTo>
                <a:lnTo>
                  <a:pt x="0" y="0"/>
                </a:lnTo>
                <a:lnTo>
                  <a:pt x="4054949" y="0"/>
                </a:lnTo>
                <a:lnTo>
                  <a:pt x="4054949" y="411480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3532709" y="2124646"/>
            <a:ext cx="10142101" cy="3018854"/>
          </a:xfrm>
          <a:prstGeom prst="rect">
            <a:avLst/>
          </a:prstGeom>
        </p:spPr>
        <p:txBody>
          <a:bodyPr anchor="t" rtlCol="false" tIns="0" lIns="0" bIns="0" rIns="0">
            <a:spAutoFit/>
          </a:bodyPr>
          <a:lstStyle/>
          <a:p>
            <a:pPr algn="ctr">
              <a:lnSpc>
                <a:spcPts val="12106"/>
              </a:lnSpc>
              <a:spcBef>
                <a:spcPct val="0"/>
              </a:spcBef>
            </a:pPr>
            <a:r>
              <a:rPr lang="en-US" sz="8647">
                <a:solidFill>
                  <a:srgbClr val="09428E"/>
                </a:solidFill>
                <a:latin typeface="Rakkas"/>
                <a:ea typeface="Rakkas"/>
                <a:cs typeface="Rakkas"/>
                <a:sym typeface="Rakkas"/>
              </a:rPr>
              <a:t>ONLINE PAYMENT</a:t>
            </a:r>
          </a:p>
          <a:p>
            <a:pPr algn="ctr">
              <a:lnSpc>
                <a:spcPts val="12106"/>
              </a:lnSpc>
              <a:spcBef>
                <a:spcPct val="0"/>
              </a:spcBef>
            </a:pPr>
            <a:r>
              <a:rPr lang="en-US" sz="8647">
                <a:solidFill>
                  <a:srgbClr val="09428E"/>
                </a:solidFill>
                <a:latin typeface="Rakkas"/>
                <a:ea typeface="Rakkas"/>
                <a:cs typeface="Rakkas"/>
                <a:sym typeface="Rakkas"/>
              </a:rPr>
              <a:t>FRAUD DETECTION </a:t>
            </a:r>
            <a:r>
              <a:rPr lang="en-US" sz="8647">
                <a:solidFill>
                  <a:srgbClr val="0463B5"/>
                </a:solidFill>
                <a:latin typeface="Rakkas"/>
                <a:ea typeface="Rakkas"/>
                <a:cs typeface="Rakkas"/>
                <a:sym typeface="Rakkas"/>
              </a:rPr>
              <a:t> </a:t>
            </a:r>
          </a:p>
        </p:txBody>
      </p:sp>
      <p:sp>
        <p:nvSpPr>
          <p:cNvPr name="TextBox 12" id="12"/>
          <p:cNvSpPr txBox="true"/>
          <p:nvPr/>
        </p:nvSpPr>
        <p:spPr>
          <a:xfrm rot="0">
            <a:off x="8187954" y="6279095"/>
            <a:ext cx="9374981" cy="2630170"/>
          </a:xfrm>
          <a:prstGeom prst="rect">
            <a:avLst/>
          </a:prstGeom>
        </p:spPr>
        <p:txBody>
          <a:bodyPr anchor="t" rtlCol="false" tIns="0" lIns="0" bIns="0" rIns="0">
            <a:spAutoFit/>
          </a:bodyPr>
          <a:lstStyle/>
          <a:p>
            <a:pPr algn="just">
              <a:lnSpc>
                <a:spcPts val="5179"/>
              </a:lnSpc>
            </a:pPr>
            <a:r>
              <a:rPr lang="en-US" sz="3699">
                <a:solidFill>
                  <a:srgbClr val="000000"/>
                </a:solidFill>
                <a:latin typeface="Times New Roman"/>
                <a:ea typeface="Times New Roman"/>
                <a:cs typeface="Times New Roman"/>
                <a:sym typeface="Times New Roman"/>
              </a:rPr>
              <a:t>P.PRIYADHARSHINI</a:t>
            </a:r>
          </a:p>
          <a:p>
            <a:pPr algn="just">
              <a:lnSpc>
                <a:spcPts val="5179"/>
              </a:lnSpc>
            </a:pPr>
            <a:r>
              <a:rPr lang="en-US" sz="3699">
                <a:solidFill>
                  <a:srgbClr val="000000"/>
                </a:solidFill>
                <a:latin typeface="Times New Roman"/>
                <a:ea typeface="Times New Roman"/>
                <a:cs typeface="Times New Roman"/>
                <a:sym typeface="Times New Roman"/>
              </a:rPr>
              <a:t>IV YEAR B.TECH IT</a:t>
            </a:r>
          </a:p>
          <a:p>
            <a:pPr algn="just">
              <a:lnSpc>
                <a:spcPts val="5179"/>
              </a:lnSpc>
            </a:pPr>
            <a:r>
              <a:rPr lang="en-US" sz="3699">
                <a:solidFill>
                  <a:srgbClr val="000000"/>
                </a:solidFill>
                <a:latin typeface="Times New Roman"/>
                <a:ea typeface="Times New Roman"/>
                <a:cs typeface="Times New Roman"/>
                <a:sym typeface="Times New Roman"/>
              </a:rPr>
              <a:t>REG NO:95072215041</a:t>
            </a:r>
          </a:p>
          <a:p>
            <a:pPr algn="just">
              <a:lnSpc>
                <a:spcPts val="5179"/>
              </a:lnSpc>
            </a:pPr>
            <a:r>
              <a:rPr lang="en-US" sz="3699">
                <a:solidFill>
                  <a:srgbClr val="000000"/>
                </a:solidFill>
                <a:latin typeface="Times New Roman"/>
                <a:ea typeface="Times New Roman"/>
                <a:cs typeface="Times New Roman"/>
                <a:sym typeface="Times New Roman"/>
              </a:rPr>
              <a:t>FRANCIS XAVIER ENGINEERING COLLEGE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5597" t="0" r="-15597" b="0"/>
            </a:stretch>
          </a:blipFill>
        </p:spPr>
      </p:sp>
      <p:grpSp>
        <p:nvGrpSpPr>
          <p:cNvPr name="Group 3" id="3"/>
          <p:cNvGrpSpPr/>
          <p:nvPr/>
        </p:nvGrpSpPr>
        <p:grpSpPr>
          <a:xfrm rot="0">
            <a:off x="1029443" y="1028700"/>
            <a:ext cx="16229114" cy="8229600"/>
            <a:chOff x="0" y="0"/>
            <a:chExt cx="4274335" cy="2167467"/>
          </a:xfrm>
        </p:grpSpPr>
        <p:sp>
          <p:nvSpPr>
            <p:cNvPr name="Freeform 4" id="4"/>
            <p:cNvSpPr/>
            <p:nvPr/>
          </p:nvSpPr>
          <p:spPr>
            <a:xfrm flipH="false" flipV="false" rot="0">
              <a:off x="0" y="0"/>
              <a:ext cx="4274334" cy="2167467"/>
            </a:xfrm>
            <a:custGeom>
              <a:avLst/>
              <a:gdLst/>
              <a:ahLst/>
              <a:cxnLst/>
              <a:rect r="r" b="b" t="t" l="l"/>
              <a:pathLst>
                <a:path h="2167467" w="4274334">
                  <a:moveTo>
                    <a:pt x="0" y="0"/>
                  </a:moveTo>
                  <a:lnTo>
                    <a:pt x="4274334" y="0"/>
                  </a:lnTo>
                  <a:lnTo>
                    <a:pt x="4274334" y="2167467"/>
                  </a:lnTo>
                  <a:lnTo>
                    <a:pt x="0" y="2167467"/>
                  </a:lnTo>
                  <a:close/>
                </a:path>
              </a:pathLst>
            </a:custGeom>
            <a:solidFill>
              <a:srgbClr val="FEFEFE"/>
            </a:solidFill>
          </p:spPr>
        </p:sp>
        <p:sp>
          <p:nvSpPr>
            <p:cNvPr name="TextBox 5" id="5"/>
            <p:cNvSpPr txBox="true"/>
            <p:nvPr/>
          </p:nvSpPr>
          <p:spPr>
            <a:xfrm>
              <a:off x="0" y="38100"/>
              <a:ext cx="4274335" cy="2129367"/>
            </a:xfrm>
            <a:prstGeom prst="rect">
              <a:avLst/>
            </a:prstGeom>
          </p:spPr>
          <p:txBody>
            <a:bodyPr anchor="ctr" rtlCol="false" tIns="50800" lIns="50800" bIns="50800" rIns="50800"/>
            <a:lstStyle/>
            <a:p>
              <a:pPr algn="ctr">
                <a:lnSpc>
                  <a:spcPts val="2481"/>
                </a:lnSpc>
              </a:pPr>
            </a:p>
          </p:txBody>
        </p:sp>
      </p:grpSp>
      <p:sp>
        <p:nvSpPr>
          <p:cNvPr name="Freeform 6" id="6"/>
          <p:cNvSpPr/>
          <p:nvPr/>
        </p:nvSpPr>
        <p:spPr>
          <a:xfrm flipH="true" flipV="true" rot="0">
            <a:off x="16310046" y="-2312817"/>
            <a:ext cx="8623491" cy="8750775"/>
          </a:xfrm>
          <a:custGeom>
            <a:avLst/>
            <a:gdLst/>
            <a:ahLst/>
            <a:cxnLst/>
            <a:rect r="r" b="b" t="t" l="l"/>
            <a:pathLst>
              <a:path h="8750775" w="8623491">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428350" y="3864288"/>
            <a:ext cx="8623491" cy="8750775"/>
          </a:xfrm>
          <a:custGeom>
            <a:avLst/>
            <a:gdLst/>
            <a:ahLst/>
            <a:cxnLst/>
            <a:rect r="r" b="b" t="t" l="l"/>
            <a:pathLst>
              <a:path h="8750775" w="8623491">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10800000">
            <a:off x="6125872" y="9311584"/>
            <a:ext cx="6036256" cy="3303478"/>
          </a:xfrm>
          <a:custGeom>
            <a:avLst/>
            <a:gdLst/>
            <a:ahLst/>
            <a:cxnLst/>
            <a:rect r="r" b="b" t="t" l="l"/>
            <a:pathLst>
              <a:path h="3303478" w="6036256">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797228" y="2367223"/>
            <a:ext cx="14693544" cy="7310120"/>
          </a:xfrm>
          <a:prstGeom prst="rect">
            <a:avLst/>
          </a:prstGeom>
        </p:spPr>
        <p:txBody>
          <a:bodyPr anchor="t" rtlCol="false" tIns="0" lIns="0" bIns="0" rIns="0">
            <a:spAutoFit/>
          </a:bodyPr>
          <a:lstStyle/>
          <a:p>
            <a:pPr algn="just" marL="690881" indent="-345440" lvl="1">
              <a:lnSpc>
                <a:spcPts val="4480"/>
              </a:lnSpc>
              <a:buFont typeface="Arial"/>
              <a:buChar char="•"/>
            </a:pPr>
            <a:r>
              <a:rPr lang="en-US" sz="3200" spc="48">
                <a:solidFill>
                  <a:srgbClr val="0D1C38"/>
                </a:solidFill>
                <a:latin typeface="Times New Roman"/>
                <a:ea typeface="Times New Roman"/>
                <a:cs typeface="Times New Roman"/>
                <a:sym typeface="Times New Roman"/>
              </a:rPr>
              <a:t>Online payment systems have become an essential part of today’s digital economy, enabling quick and convenient transactions worldwide. However, the increase in online payments has also led to a rise in fraudulent activities, causing major financial losses. </a:t>
            </a:r>
          </a:p>
          <a:p>
            <a:pPr algn="just" marL="690881" indent="-345440" lvl="1">
              <a:lnSpc>
                <a:spcPts val="4480"/>
              </a:lnSpc>
              <a:buFont typeface="Arial"/>
              <a:buChar char="•"/>
            </a:pPr>
            <a:r>
              <a:rPr lang="en-US" sz="3200" spc="48">
                <a:solidFill>
                  <a:srgbClr val="0D1C38"/>
                </a:solidFill>
                <a:latin typeface="Times New Roman"/>
                <a:ea typeface="Times New Roman"/>
                <a:cs typeface="Times New Roman"/>
                <a:sym typeface="Times New Roman"/>
              </a:rPr>
              <a:t>Traditional rule-based systems fail to keep up with evolving fraud patterns, making it necessary to develop smarter detection methods.</a:t>
            </a:r>
          </a:p>
          <a:p>
            <a:pPr algn="just" marL="690881" indent="-345440" lvl="1">
              <a:lnSpc>
                <a:spcPts val="4480"/>
              </a:lnSpc>
              <a:buFont typeface="Arial"/>
              <a:buChar char="•"/>
            </a:pPr>
            <a:r>
              <a:rPr lang="en-US" sz="3200" spc="48">
                <a:solidFill>
                  <a:srgbClr val="0D1C38"/>
                </a:solidFill>
                <a:latin typeface="Times New Roman"/>
                <a:ea typeface="Times New Roman"/>
                <a:cs typeface="Times New Roman"/>
                <a:sym typeface="Times New Roman"/>
              </a:rPr>
              <a:t>This project focuses on building a machine learning-based model to detect fraudulent online transactions by analyzing data such as transaction amount, time, and user behavior. The model will learn to differentiate between genuine and fraudulent activities using historical transaction data. This approach aims to improve accuracy, reduce false alerts, and enhance the overall security of online payment systems.</a:t>
            </a:r>
          </a:p>
          <a:p>
            <a:pPr algn="just">
              <a:lnSpc>
                <a:spcPts val="4480"/>
              </a:lnSpc>
            </a:pPr>
          </a:p>
        </p:txBody>
      </p:sp>
      <p:sp>
        <p:nvSpPr>
          <p:cNvPr name="TextBox 10" id="10"/>
          <p:cNvSpPr txBox="true"/>
          <p:nvPr/>
        </p:nvSpPr>
        <p:spPr>
          <a:xfrm rot="0">
            <a:off x="3289030" y="1743420"/>
            <a:ext cx="13021017" cy="962151"/>
          </a:xfrm>
          <a:prstGeom prst="rect">
            <a:avLst/>
          </a:prstGeom>
        </p:spPr>
        <p:txBody>
          <a:bodyPr anchor="t" rtlCol="false" tIns="0" lIns="0" bIns="0" rIns="0">
            <a:spAutoFit/>
          </a:bodyPr>
          <a:lstStyle/>
          <a:p>
            <a:pPr algn="l">
              <a:lnSpc>
                <a:spcPts val="6751"/>
              </a:lnSpc>
            </a:pPr>
            <a:r>
              <a:rPr lang="en-US" b="true" sz="8439">
                <a:solidFill>
                  <a:srgbClr val="0463B5"/>
                </a:solidFill>
                <a:latin typeface="Roca One Bold"/>
                <a:ea typeface="Roca One Bold"/>
                <a:cs typeface="Roca One Bold"/>
                <a:sym typeface="Roca One Bold"/>
              </a:rPr>
              <a:t>PROBLEM STATEMENT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25557" y="10075"/>
            <a:ext cx="16229114" cy="7959480"/>
            <a:chOff x="0" y="0"/>
            <a:chExt cx="4274335" cy="2096324"/>
          </a:xfrm>
        </p:grpSpPr>
        <p:sp>
          <p:nvSpPr>
            <p:cNvPr name="Freeform 3" id="3"/>
            <p:cNvSpPr/>
            <p:nvPr/>
          </p:nvSpPr>
          <p:spPr>
            <a:xfrm flipH="false" flipV="false" rot="0">
              <a:off x="0" y="0"/>
              <a:ext cx="4274334" cy="2096324"/>
            </a:xfrm>
            <a:custGeom>
              <a:avLst/>
              <a:gdLst/>
              <a:ahLst/>
              <a:cxnLst/>
              <a:rect r="r" b="b" t="t" l="l"/>
              <a:pathLst>
                <a:path h="2096324" w="4274334">
                  <a:moveTo>
                    <a:pt x="0" y="0"/>
                  </a:moveTo>
                  <a:lnTo>
                    <a:pt x="4274334" y="0"/>
                  </a:lnTo>
                  <a:lnTo>
                    <a:pt x="4274334" y="2096324"/>
                  </a:lnTo>
                  <a:lnTo>
                    <a:pt x="0" y="2096324"/>
                  </a:lnTo>
                  <a:close/>
                </a:path>
              </a:pathLst>
            </a:custGeom>
            <a:solidFill>
              <a:srgbClr val="FEFEFE"/>
            </a:solidFill>
          </p:spPr>
        </p:sp>
        <p:sp>
          <p:nvSpPr>
            <p:cNvPr name="TextBox 4" id="4"/>
            <p:cNvSpPr txBox="true"/>
            <p:nvPr/>
          </p:nvSpPr>
          <p:spPr>
            <a:xfrm>
              <a:off x="0" y="38100"/>
              <a:ext cx="4274335" cy="2058224"/>
            </a:xfrm>
            <a:prstGeom prst="rect">
              <a:avLst/>
            </a:prstGeom>
          </p:spPr>
          <p:txBody>
            <a:bodyPr anchor="ctr" rtlCol="false" tIns="50800" lIns="50800" bIns="50800" rIns="50800"/>
            <a:lstStyle/>
            <a:p>
              <a:pPr algn="ctr">
                <a:lnSpc>
                  <a:spcPts val="2481"/>
                </a:lnSpc>
              </a:pPr>
            </a:p>
          </p:txBody>
        </p:sp>
      </p:grpSp>
      <p:sp>
        <p:nvSpPr>
          <p:cNvPr name="Freeform 5" id="5"/>
          <p:cNvSpPr/>
          <p:nvPr/>
        </p:nvSpPr>
        <p:spPr>
          <a:xfrm flipH="false" flipV="false" rot="-10800000">
            <a:off x="6765062" y="9514175"/>
            <a:ext cx="6036256" cy="3303478"/>
          </a:xfrm>
          <a:custGeom>
            <a:avLst/>
            <a:gdLst/>
            <a:ahLst/>
            <a:cxnLst/>
            <a:rect r="r" b="b" t="t" l="l"/>
            <a:pathLst>
              <a:path h="3303478" w="6036256">
                <a:moveTo>
                  <a:pt x="0" y="0"/>
                </a:moveTo>
                <a:lnTo>
                  <a:pt x="6036256" y="0"/>
                </a:lnTo>
                <a:lnTo>
                  <a:pt x="6036256" y="3303478"/>
                </a:lnTo>
                <a:lnTo>
                  <a:pt x="0" y="33034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4226119" y="1501053"/>
            <a:ext cx="8867830" cy="962341"/>
          </a:xfrm>
          <a:prstGeom prst="rect">
            <a:avLst/>
          </a:prstGeom>
        </p:spPr>
        <p:txBody>
          <a:bodyPr anchor="t" rtlCol="false" tIns="0" lIns="0" bIns="0" rIns="0">
            <a:spAutoFit/>
          </a:bodyPr>
          <a:lstStyle/>
          <a:p>
            <a:pPr algn="ctr">
              <a:lnSpc>
                <a:spcPts val="6754"/>
              </a:lnSpc>
            </a:pPr>
            <a:r>
              <a:rPr lang="en-US" b="true" sz="8443">
                <a:solidFill>
                  <a:srgbClr val="0463B5"/>
                </a:solidFill>
                <a:latin typeface="Roca One Bold"/>
                <a:ea typeface="Roca One Bold"/>
                <a:cs typeface="Roca One Bold"/>
                <a:sym typeface="Roca One Bold"/>
              </a:rPr>
              <a:t>ABSTRACT</a:t>
            </a:r>
          </a:p>
        </p:txBody>
      </p:sp>
      <p:sp>
        <p:nvSpPr>
          <p:cNvPr name="TextBox 7" id="7"/>
          <p:cNvSpPr txBox="true"/>
          <p:nvPr/>
        </p:nvSpPr>
        <p:spPr>
          <a:xfrm rot="0">
            <a:off x="9081254" y="4795202"/>
            <a:ext cx="125492" cy="629920"/>
          </a:xfrm>
          <a:prstGeom prst="rect">
            <a:avLst/>
          </a:prstGeom>
        </p:spPr>
        <p:txBody>
          <a:bodyPr anchor="t" rtlCol="false" tIns="0" lIns="0" bIns="0" rIns="0">
            <a:spAutoFit/>
          </a:bodyPr>
          <a:lstStyle/>
          <a:p>
            <a:pPr algn="ctr">
              <a:lnSpc>
                <a:spcPts val="5179"/>
              </a:lnSpc>
              <a:spcBef>
                <a:spcPct val="0"/>
              </a:spcBef>
            </a:pPr>
            <a:r>
              <a:rPr lang="en-US" sz="3699">
                <a:solidFill>
                  <a:srgbClr val="0E182F"/>
                </a:solidFill>
                <a:latin typeface="Canva Sans"/>
                <a:ea typeface="Canva Sans"/>
                <a:cs typeface="Canva Sans"/>
                <a:sym typeface="Canva Sans"/>
              </a:rPr>
              <a:t>i</a:t>
            </a:r>
          </a:p>
        </p:txBody>
      </p:sp>
      <p:sp>
        <p:nvSpPr>
          <p:cNvPr name="Freeform 8" id="8"/>
          <p:cNvSpPr/>
          <p:nvPr/>
        </p:nvSpPr>
        <p:spPr>
          <a:xfrm flipH="false" flipV="false" rot="0">
            <a:off x="-6901061" y="5282420"/>
            <a:ext cx="8623491" cy="8750775"/>
          </a:xfrm>
          <a:custGeom>
            <a:avLst/>
            <a:gdLst/>
            <a:ahLst/>
            <a:cxnLst/>
            <a:rect r="r" b="b" t="t" l="l"/>
            <a:pathLst>
              <a:path h="8750775" w="8623491">
                <a:moveTo>
                  <a:pt x="0" y="0"/>
                </a:moveTo>
                <a:lnTo>
                  <a:pt x="8623491" y="0"/>
                </a:lnTo>
                <a:lnTo>
                  <a:pt x="8623491" y="8750775"/>
                </a:lnTo>
                <a:lnTo>
                  <a:pt x="0" y="87507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0">
            <a:off x="16954672" y="-2555088"/>
            <a:ext cx="8623491" cy="8750775"/>
          </a:xfrm>
          <a:custGeom>
            <a:avLst/>
            <a:gdLst/>
            <a:ahLst/>
            <a:cxnLst/>
            <a:rect r="r" b="b" t="t" l="l"/>
            <a:pathLst>
              <a:path h="8750775" w="8623491">
                <a:moveTo>
                  <a:pt x="8623491" y="8750775"/>
                </a:moveTo>
                <a:lnTo>
                  <a:pt x="0" y="8750775"/>
                </a:lnTo>
                <a:lnTo>
                  <a:pt x="0" y="0"/>
                </a:lnTo>
                <a:lnTo>
                  <a:pt x="8623491" y="0"/>
                </a:lnTo>
                <a:lnTo>
                  <a:pt x="8623491" y="875077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829718" y="3108765"/>
            <a:ext cx="16020792" cy="5653405"/>
          </a:xfrm>
          <a:prstGeom prst="rect">
            <a:avLst/>
          </a:prstGeom>
        </p:spPr>
        <p:txBody>
          <a:bodyPr anchor="t" rtlCol="false" tIns="0" lIns="0" bIns="0" rIns="0">
            <a:spAutoFit/>
          </a:bodyPr>
          <a:lstStyle/>
          <a:p>
            <a:pPr algn="just" marL="690881" indent="-345440" lvl="1">
              <a:lnSpc>
                <a:spcPts val="3200"/>
              </a:lnSpc>
              <a:buFont typeface="Arial"/>
              <a:buChar char="•"/>
            </a:pPr>
            <a:r>
              <a:rPr lang="en-US" sz="3200" spc="48">
                <a:solidFill>
                  <a:srgbClr val="000000"/>
                </a:solidFill>
                <a:latin typeface="Times New Roman"/>
                <a:ea typeface="Times New Roman"/>
                <a:cs typeface="Times New Roman"/>
                <a:sym typeface="Times New Roman"/>
              </a:rPr>
              <a:t>Online payment fraud detection is an essential system designed to identify and prevent unauthorized or suspicious financial transactions in real-time.</a:t>
            </a:r>
          </a:p>
          <a:p>
            <a:pPr algn="just">
              <a:lnSpc>
                <a:spcPts val="3200"/>
              </a:lnSpc>
            </a:pPr>
          </a:p>
          <a:p>
            <a:pPr algn="l" marL="690881" indent="-345440" lvl="1">
              <a:lnSpc>
                <a:spcPts val="3200"/>
              </a:lnSpc>
              <a:buFont typeface="Arial"/>
              <a:buChar char="•"/>
            </a:pPr>
            <a:r>
              <a:rPr lang="en-US" sz="3200" spc="48">
                <a:solidFill>
                  <a:srgbClr val="000000"/>
                </a:solidFill>
                <a:latin typeface="Times New Roman"/>
                <a:ea typeface="Times New Roman"/>
                <a:cs typeface="Times New Roman"/>
                <a:sym typeface="Times New Roman"/>
              </a:rPr>
              <a:t>With the rise of digital payments, detecting fraudulent activities such as fake transactions, identity theft, and account takeovers has become increasingly important.</a:t>
            </a:r>
          </a:p>
          <a:p>
            <a:pPr algn="l">
              <a:lnSpc>
                <a:spcPts val="3200"/>
              </a:lnSpc>
            </a:pPr>
          </a:p>
          <a:p>
            <a:pPr algn="l" marL="690881" indent="-345440" lvl="1">
              <a:lnSpc>
                <a:spcPts val="3200"/>
              </a:lnSpc>
              <a:buFont typeface="Arial"/>
              <a:buChar char="•"/>
            </a:pPr>
            <a:r>
              <a:rPr lang="en-US" sz="3200" spc="48">
                <a:solidFill>
                  <a:srgbClr val="000000"/>
                </a:solidFill>
                <a:latin typeface="Times New Roman"/>
                <a:ea typeface="Times New Roman"/>
                <a:cs typeface="Times New Roman"/>
                <a:sym typeface="Times New Roman"/>
              </a:rPr>
              <a:t>This project uses machine learning algorithms to analyze transaction data and identify patterns that distinguish legitimate transactions from fraudulent ones.</a:t>
            </a:r>
          </a:p>
          <a:p>
            <a:pPr algn="l">
              <a:lnSpc>
                <a:spcPts val="3200"/>
              </a:lnSpc>
            </a:pPr>
          </a:p>
          <a:p>
            <a:pPr algn="l" marL="690881" indent="-345440" lvl="1">
              <a:lnSpc>
                <a:spcPts val="3200"/>
              </a:lnSpc>
              <a:buFont typeface="Arial"/>
              <a:buChar char="•"/>
            </a:pPr>
            <a:r>
              <a:rPr lang="en-US" sz="3200" spc="48">
                <a:solidFill>
                  <a:srgbClr val="000000"/>
                </a:solidFill>
                <a:latin typeface="Times New Roman"/>
                <a:ea typeface="Times New Roman"/>
                <a:cs typeface="Times New Roman"/>
                <a:sym typeface="Times New Roman"/>
              </a:rPr>
              <a:t>By training models on historical payment data, the system learns to detect unusual behaviors and predict the likelihood of fraud before it happens.</a:t>
            </a:r>
          </a:p>
          <a:p>
            <a:pPr algn="l">
              <a:lnSpc>
                <a:spcPts val="3200"/>
              </a:lnSpc>
            </a:pPr>
          </a:p>
          <a:p>
            <a:pPr algn="l" marL="690881" indent="-345440" lvl="1">
              <a:lnSpc>
                <a:spcPts val="3200"/>
              </a:lnSpc>
              <a:buFont typeface="Arial"/>
              <a:buChar char="•"/>
            </a:pPr>
            <a:r>
              <a:rPr lang="en-US" sz="3200" spc="48">
                <a:solidFill>
                  <a:srgbClr val="000000"/>
                </a:solidFill>
                <a:latin typeface="Times New Roman"/>
                <a:ea typeface="Times New Roman"/>
                <a:cs typeface="Times New Roman"/>
                <a:sym typeface="Times New Roman"/>
              </a:rPr>
              <a:t>The main goal is to ensure secure, reliable, and fast online payment processing while minimizing financial losses and protecting users’ trust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9443" y="1028700"/>
            <a:ext cx="16229114" cy="8229600"/>
            <a:chOff x="0" y="0"/>
            <a:chExt cx="4274335" cy="2167467"/>
          </a:xfrm>
        </p:grpSpPr>
        <p:sp>
          <p:nvSpPr>
            <p:cNvPr name="Freeform 3" id="3"/>
            <p:cNvSpPr/>
            <p:nvPr/>
          </p:nvSpPr>
          <p:spPr>
            <a:xfrm flipH="false" flipV="false" rot="0">
              <a:off x="0" y="0"/>
              <a:ext cx="4274334" cy="2167467"/>
            </a:xfrm>
            <a:custGeom>
              <a:avLst/>
              <a:gdLst/>
              <a:ahLst/>
              <a:cxnLst/>
              <a:rect r="r" b="b" t="t" l="l"/>
              <a:pathLst>
                <a:path h="2167467" w="4274334">
                  <a:moveTo>
                    <a:pt x="0" y="0"/>
                  </a:moveTo>
                  <a:lnTo>
                    <a:pt x="4274334" y="0"/>
                  </a:lnTo>
                  <a:lnTo>
                    <a:pt x="4274334" y="2167467"/>
                  </a:lnTo>
                  <a:lnTo>
                    <a:pt x="0" y="2167467"/>
                  </a:lnTo>
                  <a:close/>
                </a:path>
              </a:pathLst>
            </a:custGeom>
            <a:solidFill>
              <a:srgbClr val="FEFEFE"/>
            </a:solidFill>
          </p:spPr>
        </p:sp>
        <p:sp>
          <p:nvSpPr>
            <p:cNvPr name="TextBox 4" id="4"/>
            <p:cNvSpPr txBox="true"/>
            <p:nvPr/>
          </p:nvSpPr>
          <p:spPr>
            <a:xfrm>
              <a:off x="0" y="38100"/>
              <a:ext cx="4274335" cy="2129367"/>
            </a:xfrm>
            <a:prstGeom prst="rect">
              <a:avLst/>
            </a:prstGeom>
          </p:spPr>
          <p:txBody>
            <a:bodyPr anchor="ctr" rtlCol="false" tIns="50800" lIns="50800" bIns="50800" rIns="50800"/>
            <a:lstStyle/>
            <a:p>
              <a:pPr algn="ctr">
                <a:lnSpc>
                  <a:spcPts val="2481"/>
                </a:lnSpc>
              </a:pPr>
            </a:p>
          </p:txBody>
        </p:sp>
      </p:grpSp>
      <p:sp>
        <p:nvSpPr>
          <p:cNvPr name="Freeform 5" id="5"/>
          <p:cNvSpPr/>
          <p:nvPr/>
        </p:nvSpPr>
        <p:spPr>
          <a:xfrm flipH="false" flipV="false" rot="-10800000">
            <a:off x="6765062" y="9514175"/>
            <a:ext cx="6036256" cy="3303478"/>
          </a:xfrm>
          <a:custGeom>
            <a:avLst/>
            <a:gdLst/>
            <a:ahLst/>
            <a:cxnLst/>
            <a:rect r="r" b="b" t="t" l="l"/>
            <a:pathLst>
              <a:path h="3303478" w="6036256">
                <a:moveTo>
                  <a:pt x="0" y="0"/>
                </a:moveTo>
                <a:lnTo>
                  <a:pt x="6036256" y="0"/>
                </a:lnTo>
                <a:lnTo>
                  <a:pt x="6036256" y="3303478"/>
                </a:lnTo>
                <a:lnTo>
                  <a:pt x="0" y="33034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942408" y="2377670"/>
            <a:ext cx="15025033" cy="6186170"/>
          </a:xfrm>
          <a:prstGeom prst="rect">
            <a:avLst/>
          </a:prstGeom>
        </p:spPr>
        <p:txBody>
          <a:bodyPr anchor="t" rtlCol="false" tIns="0" lIns="0" bIns="0" rIns="0">
            <a:spAutoFit/>
          </a:bodyPr>
          <a:lstStyle/>
          <a:p>
            <a:pPr algn="just">
              <a:lnSpc>
                <a:spcPts val="4480"/>
              </a:lnSpc>
            </a:pPr>
            <a:r>
              <a:rPr lang="en-US" sz="3200" spc="48">
                <a:solidFill>
                  <a:srgbClr val="000000"/>
                </a:solidFill>
                <a:latin typeface="Times New Roman"/>
                <a:ea typeface="Times New Roman"/>
                <a:cs typeface="Times New Roman"/>
                <a:sym typeface="Times New Roman"/>
              </a:rPr>
              <a:t>Online payment fraud happens when someone uses another person’s payment information  like credit card or bank details to make illegal transactions. As digital payments are becoming more common, these frauds are also increasing.</a:t>
            </a:r>
            <a:r>
              <a:rPr lang="en-US" sz="3200" spc="48">
                <a:solidFill>
                  <a:srgbClr val="000000"/>
                </a:solidFill>
                <a:latin typeface="Times New Roman"/>
                <a:ea typeface="Times New Roman"/>
                <a:cs typeface="Times New Roman"/>
                <a:sym typeface="Times New Roman"/>
              </a:rPr>
              <a:t>To prevent this, Machine Learning (ML) can be used. ML helps computers learn from past transaction data and identify patterns that indicate whether a transaction is genuine or fraudulent. In this system, data such as transaction amount, time, location, and user behavior are analyzed. The ML model is trained to spot unusual or suspicious activity, such as sudden large purchases or payments from new locations. Once trained, it can predict frauds automatically in real-time, reducing losses and improving security.</a:t>
            </a:r>
          </a:p>
          <a:p>
            <a:pPr algn="just">
              <a:lnSpc>
                <a:spcPts val="4480"/>
              </a:lnSpc>
            </a:pPr>
          </a:p>
          <a:p>
            <a:pPr algn="just">
              <a:lnSpc>
                <a:spcPts val="4480"/>
              </a:lnSpc>
            </a:pPr>
          </a:p>
        </p:txBody>
      </p:sp>
      <p:sp>
        <p:nvSpPr>
          <p:cNvPr name="TextBox 7" id="7"/>
          <p:cNvSpPr txBox="true"/>
          <p:nvPr/>
        </p:nvSpPr>
        <p:spPr>
          <a:xfrm rot="0">
            <a:off x="4226119" y="1501053"/>
            <a:ext cx="8867830" cy="962341"/>
          </a:xfrm>
          <a:prstGeom prst="rect">
            <a:avLst/>
          </a:prstGeom>
        </p:spPr>
        <p:txBody>
          <a:bodyPr anchor="t" rtlCol="false" tIns="0" lIns="0" bIns="0" rIns="0">
            <a:spAutoFit/>
          </a:bodyPr>
          <a:lstStyle/>
          <a:p>
            <a:pPr algn="ctr">
              <a:lnSpc>
                <a:spcPts val="6754"/>
              </a:lnSpc>
            </a:pPr>
            <a:r>
              <a:rPr lang="en-US" b="true" sz="8443">
                <a:solidFill>
                  <a:srgbClr val="0463B5"/>
                </a:solidFill>
                <a:latin typeface="Roca One Bold"/>
                <a:ea typeface="Roca One Bold"/>
                <a:cs typeface="Roca One Bold"/>
                <a:sym typeface="Roca One Bold"/>
              </a:rPr>
              <a:t>INTRODUCTION</a:t>
            </a:r>
          </a:p>
        </p:txBody>
      </p:sp>
      <p:sp>
        <p:nvSpPr>
          <p:cNvPr name="TextBox 8" id="8"/>
          <p:cNvSpPr txBox="true"/>
          <p:nvPr/>
        </p:nvSpPr>
        <p:spPr>
          <a:xfrm rot="0">
            <a:off x="9081254" y="4795202"/>
            <a:ext cx="125492" cy="629920"/>
          </a:xfrm>
          <a:prstGeom prst="rect">
            <a:avLst/>
          </a:prstGeom>
        </p:spPr>
        <p:txBody>
          <a:bodyPr anchor="t" rtlCol="false" tIns="0" lIns="0" bIns="0" rIns="0">
            <a:spAutoFit/>
          </a:bodyPr>
          <a:lstStyle/>
          <a:p>
            <a:pPr algn="ctr">
              <a:lnSpc>
                <a:spcPts val="5179"/>
              </a:lnSpc>
              <a:spcBef>
                <a:spcPct val="0"/>
              </a:spcBef>
            </a:pPr>
            <a:r>
              <a:rPr lang="en-US" sz="3699">
                <a:solidFill>
                  <a:srgbClr val="0E182F"/>
                </a:solidFill>
                <a:latin typeface="Canva Sans"/>
                <a:ea typeface="Canva Sans"/>
                <a:cs typeface="Canva Sans"/>
                <a:sym typeface="Canva Sans"/>
              </a:rPr>
              <a:t>i</a:t>
            </a:r>
          </a:p>
        </p:txBody>
      </p:sp>
      <p:sp>
        <p:nvSpPr>
          <p:cNvPr name="Freeform 9" id="9"/>
          <p:cNvSpPr/>
          <p:nvPr/>
        </p:nvSpPr>
        <p:spPr>
          <a:xfrm flipH="false" flipV="false" rot="0">
            <a:off x="-6428350" y="3864288"/>
            <a:ext cx="8623491" cy="8750775"/>
          </a:xfrm>
          <a:custGeom>
            <a:avLst/>
            <a:gdLst/>
            <a:ahLst/>
            <a:cxnLst/>
            <a:rect r="r" b="b" t="t" l="l"/>
            <a:pathLst>
              <a:path h="8750775" w="8623491">
                <a:moveTo>
                  <a:pt x="0" y="0"/>
                </a:moveTo>
                <a:lnTo>
                  <a:pt x="8623491" y="0"/>
                </a:lnTo>
                <a:lnTo>
                  <a:pt x="8623491" y="8750775"/>
                </a:lnTo>
                <a:lnTo>
                  <a:pt x="0" y="87507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true" rot="0">
            <a:off x="16332556" y="-2555088"/>
            <a:ext cx="8623491" cy="8750775"/>
          </a:xfrm>
          <a:custGeom>
            <a:avLst/>
            <a:gdLst/>
            <a:ahLst/>
            <a:cxnLst/>
            <a:rect r="r" b="b" t="t" l="l"/>
            <a:pathLst>
              <a:path h="8750775" w="8623491">
                <a:moveTo>
                  <a:pt x="8623492" y="8750775"/>
                </a:moveTo>
                <a:lnTo>
                  <a:pt x="0" y="8750775"/>
                </a:lnTo>
                <a:lnTo>
                  <a:pt x="0" y="0"/>
                </a:lnTo>
                <a:lnTo>
                  <a:pt x="8623492" y="0"/>
                </a:lnTo>
                <a:lnTo>
                  <a:pt x="8623492" y="8750775"/>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5597" t="0" r="-15597" b="0"/>
            </a:stretch>
          </a:blipFill>
        </p:spPr>
      </p:sp>
      <p:grpSp>
        <p:nvGrpSpPr>
          <p:cNvPr name="Group 3" id="3"/>
          <p:cNvGrpSpPr/>
          <p:nvPr/>
        </p:nvGrpSpPr>
        <p:grpSpPr>
          <a:xfrm rot="0">
            <a:off x="1029443" y="1028700"/>
            <a:ext cx="16229114" cy="8229600"/>
            <a:chOff x="0" y="0"/>
            <a:chExt cx="4274335" cy="2167467"/>
          </a:xfrm>
        </p:grpSpPr>
        <p:sp>
          <p:nvSpPr>
            <p:cNvPr name="Freeform 4" id="4"/>
            <p:cNvSpPr/>
            <p:nvPr/>
          </p:nvSpPr>
          <p:spPr>
            <a:xfrm flipH="false" flipV="false" rot="0">
              <a:off x="0" y="0"/>
              <a:ext cx="4274334" cy="2167467"/>
            </a:xfrm>
            <a:custGeom>
              <a:avLst/>
              <a:gdLst/>
              <a:ahLst/>
              <a:cxnLst/>
              <a:rect r="r" b="b" t="t" l="l"/>
              <a:pathLst>
                <a:path h="2167467" w="4274334">
                  <a:moveTo>
                    <a:pt x="0" y="0"/>
                  </a:moveTo>
                  <a:lnTo>
                    <a:pt x="4274334" y="0"/>
                  </a:lnTo>
                  <a:lnTo>
                    <a:pt x="4274334" y="2167467"/>
                  </a:lnTo>
                  <a:lnTo>
                    <a:pt x="0" y="2167467"/>
                  </a:lnTo>
                  <a:close/>
                </a:path>
              </a:pathLst>
            </a:custGeom>
            <a:solidFill>
              <a:srgbClr val="FEFEFE"/>
            </a:solidFill>
          </p:spPr>
        </p:sp>
        <p:sp>
          <p:nvSpPr>
            <p:cNvPr name="TextBox 5" id="5"/>
            <p:cNvSpPr txBox="true"/>
            <p:nvPr/>
          </p:nvSpPr>
          <p:spPr>
            <a:xfrm>
              <a:off x="0" y="38100"/>
              <a:ext cx="4274335" cy="2129367"/>
            </a:xfrm>
            <a:prstGeom prst="rect">
              <a:avLst/>
            </a:prstGeom>
          </p:spPr>
          <p:txBody>
            <a:bodyPr anchor="ctr" rtlCol="false" tIns="50800" lIns="50800" bIns="50800" rIns="50800"/>
            <a:lstStyle/>
            <a:p>
              <a:pPr algn="ctr">
                <a:lnSpc>
                  <a:spcPts val="2481"/>
                </a:lnSpc>
              </a:pPr>
            </a:p>
          </p:txBody>
        </p:sp>
      </p:grpSp>
      <p:sp>
        <p:nvSpPr>
          <p:cNvPr name="Freeform 6" id="6"/>
          <p:cNvSpPr/>
          <p:nvPr/>
        </p:nvSpPr>
        <p:spPr>
          <a:xfrm flipH="true" flipV="true" rot="0">
            <a:off x="16745963" y="-2155247"/>
            <a:ext cx="8623491" cy="8750775"/>
          </a:xfrm>
          <a:custGeom>
            <a:avLst/>
            <a:gdLst/>
            <a:ahLst/>
            <a:cxnLst/>
            <a:rect r="r" b="b" t="t" l="l"/>
            <a:pathLst>
              <a:path h="8750775" w="8623491">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7081141" y="3864288"/>
            <a:ext cx="8623491" cy="8750775"/>
          </a:xfrm>
          <a:custGeom>
            <a:avLst/>
            <a:gdLst/>
            <a:ahLst/>
            <a:cxnLst/>
            <a:rect r="r" b="b" t="t" l="l"/>
            <a:pathLst>
              <a:path h="8750775" w="8623491">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10800000">
            <a:off x="6125872" y="9311584"/>
            <a:ext cx="6036256" cy="3303478"/>
          </a:xfrm>
          <a:custGeom>
            <a:avLst/>
            <a:gdLst/>
            <a:ahLst/>
            <a:cxnLst/>
            <a:rect r="r" b="b" t="t" l="l"/>
            <a:pathLst>
              <a:path h="3303478" w="6036256">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4718137" y="1900990"/>
            <a:ext cx="6905281" cy="962151"/>
          </a:xfrm>
          <a:prstGeom prst="rect">
            <a:avLst/>
          </a:prstGeom>
        </p:spPr>
        <p:txBody>
          <a:bodyPr anchor="t" rtlCol="false" tIns="0" lIns="0" bIns="0" rIns="0">
            <a:spAutoFit/>
          </a:bodyPr>
          <a:lstStyle/>
          <a:p>
            <a:pPr algn="l">
              <a:lnSpc>
                <a:spcPts val="6751"/>
              </a:lnSpc>
            </a:pPr>
            <a:r>
              <a:rPr lang="en-US" b="true" sz="8439">
                <a:solidFill>
                  <a:srgbClr val="0463B5"/>
                </a:solidFill>
                <a:latin typeface="Roca One Bold"/>
                <a:ea typeface="Roca One Bold"/>
                <a:cs typeface="Roca One Bold"/>
                <a:sym typeface="Roca One Bold"/>
              </a:rPr>
              <a:t>OBJECTIVES</a:t>
            </a:r>
          </a:p>
        </p:txBody>
      </p:sp>
      <p:sp>
        <p:nvSpPr>
          <p:cNvPr name="TextBox 10" id="10"/>
          <p:cNvSpPr txBox="true"/>
          <p:nvPr/>
        </p:nvSpPr>
        <p:spPr>
          <a:xfrm rot="0">
            <a:off x="1342945" y="2810972"/>
            <a:ext cx="15602111" cy="6748145"/>
          </a:xfrm>
          <a:prstGeom prst="rect">
            <a:avLst/>
          </a:prstGeom>
        </p:spPr>
        <p:txBody>
          <a:bodyPr anchor="t" rtlCol="false" tIns="0" lIns="0" bIns="0" rIns="0">
            <a:spAutoFit/>
          </a:bodyPr>
          <a:lstStyle/>
          <a:p>
            <a:pPr algn="l">
              <a:lnSpc>
                <a:spcPts val="4480"/>
              </a:lnSpc>
            </a:pPr>
          </a:p>
          <a:p>
            <a:pPr algn="l" marL="690881" indent="-345440" lvl="1">
              <a:lnSpc>
                <a:spcPts val="4480"/>
              </a:lnSpc>
              <a:buFont typeface="Arial"/>
              <a:buChar char="•"/>
            </a:pPr>
            <a:r>
              <a:rPr lang="en-US" sz="3200">
                <a:solidFill>
                  <a:srgbClr val="0D1C38"/>
                </a:solidFill>
                <a:latin typeface="Times New Roman"/>
                <a:ea typeface="Times New Roman"/>
                <a:cs typeface="Times New Roman"/>
                <a:sym typeface="Times New Roman"/>
              </a:rPr>
              <a:t>To detect and prevent fraudulent online payment transactions using machine learning.</a:t>
            </a:r>
          </a:p>
          <a:p>
            <a:pPr algn="l">
              <a:lnSpc>
                <a:spcPts val="4480"/>
              </a:lnSpc>
            </a:pPr>
          </a:p>
          <a:p>
            <a:pPr algn="l" marL="690881" indent="-345440" lvl="1">
              <a:lnSpc>
                <a:spcPts val="4480"/>
              </a:lnSpc>
              <a:buFont typeface="Arial"/>
              <a:buChar char="•"/>
            </a:pPr>
            <a:r>
              <a:rPr lang="en-US" sz="3200">
                <a:solidFill>
                  <a:srgbClr val="0D1C38"/>
                </a:solidFill>
                <a:latin typeface="Times New Roman"/>
                <a:ea typeface="Times New Roman"/>
                <a:cs typeface="Times New Roman"/>
                <a:sym typeface="Times New Roman"/>
              </a:rPr>
              <a:t>To analyze transaction data and identify patterns that indicate fraudulent activity.</a:t>
            </a:r>
          </a:p>
          <a:p>
            <a:pPr algn="l">
              <a:lnSpc>
                <a:spcPts val="4480"/>
              </a:lnSpc>
            </a:pPr>
          </a:p>
          <a:p>
            <a:pPr algn="l" marL="690881" indent="-345440" lvl="1">
              <a:lnSpc>
                <a:spcPts val="4480"/>
              </a:lnSpc>
              <a:buFont typeface="Arial"/>
              <a:buChar char="•"/>
            </a:pPr>
            <a:r>
              <a:rPr lang="en-US" sz="3200">
                <a:solidFill>
                  <a:srgbClr val="0D1C38"/>
                </a:solidFill>
                <a:latin typeface="Times New Roman"/>
                <a:ea typeface="Times New Roman"/>
                <a:cs typeface="Times New Roman"/>
                <a:sym typeface="Times New Roman"/>
              </a:rPr>
              <a:t>To develop an accurate model that distinguishes between genuine and fraudulent transactions.</a:t>
            </a:r>
          </a:p>
          <a:p>
            <a:pPr algn="l">
              <a:lnSpc>
                <a:spcPts val="4480"/>
              </a:lnSpc>
            </a:pPr>
          </a:p>
          <a:p>
            <a:pPr algn="l" marL="690881" indent="-345440" lvl="1">
              <a:lnSpc>
                <a:spcPts val="4480"/>
              </a:lnSpc>
              <a:buFont typeface="Arial"/>
              <a:buChar char="•"/>
            </a:pPr>
            <a:r>
              <a:rPr lang="en-US" sz="3200">
                <a:solidFill>
                  <a:srgbClr val="0D1C38"/>
                </a:solidFill>
                <a:latin typeface="Times New Roman"/>
                <a:ea typeface="Times New Roman"/>
                <a:cs typeface="Times New Roman"/>
                <a:sym typeface="Times New Roman"/>
              </a:rPr>
              <a:t>To minimize false alerts and enhance the reliability of the detection system.</a:t>
            </a:r>
          </a:p>
          <a:p>
            <a:pPr algn="l">
              <a:lnSpc>
                <a:spcPts val="4480"/>
              </a:lnSpc>
            </a:pPr>
          </a:p>
          <a:p>
            <a:pPr algn="l" marL="690881" indent="-345440" lvl="1">
              <a:lnSpc>
                <a:spcPts val="4480"/>
              </a:lnSpc>
              <a:buFont typeface="Arial"/>
              <a:buChar char="•"/>
            </a:pPr>
            <a:r>
              <a:rPr lang="en-US" sz="3200">
                <a:solidFill>
                  <a:srgbClr val="0D1C38"/>
                </a:solidFill>
                <a:latin typeface="Times New Roman"/>
                <a:ea typeface="Times New Roman"/>
                <a:cs typeface="Times New Roman"/>
                <a:sym typeface="Times New Roman"/>
              </a:rPr>
              <a:t>To implement a real-time monitoring system for secure and safe online payments.</a:t>
            </a:r>
          </a:p>
          <a:p>
            <a:pPr algn="l">
              <a:lnSpc>
                <a:spcPts val="448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5597" t="0" r="-15597" b="0"/>
            </a:stretch>
          </a:blipFill>
        </p:spPr>
      </p:sp>
      <p:grpSp>
        <p:nvGrpSpPr>
          <p:cNvPr name="Group 3" id="3"/>
          <p:cNvGrpSpPr/>
          <p:nvPr/>
        </p:nvGrpSpPr>
        <p:grpSpPr>
          <a:xfrm rot="0">
            <a:off x="1029443" y="1028700"/>
            <a:ext cx="16229114" cy="8229600"/>
            <a:chOff x="0" y="0"/>
            <a:chExt cx="4274335" cy="2167467"/>
          </a:xfrm>
        </p:grpSpPr>
        <p:sp>
          <p:nvSpPr>
            <p:cNvPr name="Freeform 4" id="4"/>
            <p:cNvSpPr/>
            <p:nvPr/>
          </p:nvSpPr>
          <p:spPr>
            <a:xfrm flipH="false" flipV="false" rot="0">
              <a:off x="0" y="0"/>
              <a:ext cx="4274334" cy="2167467"/>
            </a:xfrm>
            <a:custGeom>
              <a:avLst/>
              <a:gdLst/>
              <a:ahLst/>
              <a:cxnLst/>
              <a:rect r="r" b="b" t="t" l="l"/>
              <a:pathLst>
                <a:path h="2167467" w="4274334">
                  <a:moveTo>
                    <a:pt x="0" y="0"/>
                  </a:moveTo>
                  <a:lnTo>
                    <a:pt x="4274334" y="0"/>
                  </a:lnTo>
                  <a:lnTo>
                    <a:pt x="4274334" y="2167467"/>
                  </a:lnTo>
                  <a:lnTo>
                    <a:pt x="0" y="2167467"/>
                  </a:lnTo>
                  <a:close/>
                </a:path>
              </a:pathLst>
            </a:custGeom>
            <a:solidFill>
              <a:srgbClr val="FEFEFE"/>
            </a:solidFill>
          </p:spPr>
        </p:sp>
        <p:sp>
          <p:nvSpPr>
            <p:cNvPr name="TextBox 5" id="5"/>
            <p:cNvSpPr txBox="true"/>
            <p:nvPr/>
          </p:nvSpPr>
          <p:spPr>
            <a:xfrm>
              <a:off x="0" y="38100"/>
              <a:ext cx="4274335" cy="2129367"/>
            </a:xfrm>
            <a:prstGeom prst="rect">
              <a:avLst/>
            </a:prstGeom>
          </p:spPr>
          <p:txBody>
            <a:bodyPr anchor="ctr" rtlCol="false" tIns="50800" lIns="50800" bIns="50800" rIns="50800"/>
            <a:lstStyle/>
            <a:p>
              <a:pPr algn="ctr">
                <a:lnSpc>
                  <a:spcPts val="2481"/>
                </a:lnSpc>
              </a:pPr>
            </a:p>
          </p:txBody>
        </p:sp>
      </p:grpSp>
      <p:sp>
        <p:nvSpPr>
          <p:cNvPr name="Freeform 6" id="6"/>
          <p:cNvSpPr/>
          <p:nvPr/>
        </p:nvSpPr>
        <p:spPr>
          <a:xfrm flipH="true" flipV="true" rot="0">
            <a:off x="16745963" y="-2155247"/>
            <a:ext cx="8623491" cy="8750775"/>
          </a:xfrm>
          <a:custGeom>
            <a:avLst/>
            <a:gdLst/>
            <a:ahLst/>
            <a:cxnLst/>
            <a:rect r="r" b="b" t="t" l="l"/>
            <a:pathLst>
              <a:path h="8750775" w="8623491">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7081141" y="3864288"/>
            <a:ext cx="8623491" cy="8750775"/>
          </a:xfrm>
          <a:custGeom>
            <a:avLst/>
            <a:gdLst/>
            <a:ahLst/>
            <a:cxnLst/>
            <a:rect r="r" b="b" t="t" l="l"/>
            <a:pathLst>
              <a:path h="8750775" w="8623491">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10800000">
            <a:off x="6125872" y="9311584"/>
            <a:ext cx="6036256" cy="3303478"/>
          </a:xfrm>
          <a:custGeom>
            <a:avLst/>
            <a:gdLst/>
            <a:ahLst/>
            <a:cxnLst/>
            <a:rect r="r" b="b" t="t" l="l"/>
            <a:pathLst>
              <a:path h="3303478" w="6036256">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aphicFrame>
        <p:nvGraphicFramePr>
          <p:cNvPr name="Object 9" id="9"/>
          <p:cNvGraphicFramePr/>
          <p:nvPr/>
        </p:nvGraphicFramePr>
        <p:xfrm>
          <a:off x="1029443" y="2540827"/>
          <a:ext cx="11315700" cy="3143250"/>
        </p:xfrm>
        <a:graphic>
          <a:graphicData uri="http://schemas.openxmlformats.org/presentationml/2006/ole">
            <p:oleObj imgW="13576300" imgH="54102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TextBox 10" id="10"/>
          <p:cNvSpPr txBox="true"/>
          <p:nvPr/>
        </p:nvSpPr>
        <p:spPr>
          <a:xfrm rot="0">
            <a:off x="2751712" y="1578677"/>
            <a:ext cx="12784576" cy="962151"/>
          </a:xfrm>
          <a:prstGeom prst="rect">
            <a:avLst/>
          </a:prstGeom>
        </p:spPr>
        <p:txBody>
          <a:bodyPr anchor="t" rtlCol="false" tIns="0" lIns="0" bIns="0" rIns="0">
            <a:spAutoFit/>
          </a:bodyPr>
          <a:lstStyle/>
          <a:p>
            <a:pPr algn="l">
              <a:lnSpc>
                <a:spcPts val="6751"/>
              </a:lnSpc>
            </a:pPr>
            <a:r>
              <a:rPr lang="en-US" b="true" sz="8439">
                <a:solidFill>
                  <a:srgbClr val="0463B5"/>
                </a:solidFill>
                <a:latin typeface="Roca One Bold"/>
                <a:ea typeface="Roca One Bold"/>
                <a:cs typeface="Roca One Bold"/>
                <a:sym typeface="Roca One Bold"/>
              </a:rPr>
              <a:t>LITERATURE SURVEY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5597" t="0" r="-15597" b="0"/>
            </a:stretch>
          </a:blipFill>
        </p:spPr>
      </p:sp>
      <p:grpSp>
        <p:nvGrpSpPr>
          <p:cNvPr name="Group 3" id="3"/>
          <p:cNvGrpSpPr/>
          <p:nvPr/>
        </p:nvGrpSpPr>
        <p:grpSpPr>
          <a:xfrm rot="0">
            <a:off x="1263463" y="907918"/>
            <a:ext cx="16229114" cy="8229600"/>
            <a:chOff x="0" y="0"/>
            <a:chExt cx="4274335" cy="2167467"/>
          </a:xfrm>
        </p:grpSpPr>
        <p:sp>
          <p:nvSpPr>
            <p:cNvPr name="Freeform 4" id="4"/>
            <p:cNvSpPr/>
            <p:nvPr/>
          </p:nvSpPr>
          <p:spPr>
            <a:xfrm flipH="false" flipV="false" rot="0">
              <a:off x="0" y="0"/>
              <a:ext cx="4274334" cy="2167467"/>
            </a:xfrm>
            <a:custGeom>
              <a:avLst/>
              <a:gdLst/>
              <a:ahLst/>
              <a:cxnLst/>
              <a:rect r="r" b="b" t="t" l="l"/>
              <a:pathLst>
                <a:path h="2167467" w="4274334">
                  <a:moveTo>
                    <a:pt x="0" y="0"/>
                  </a:moveTo>
                  <a:lnTo>
                    <a:pt x="4274334" y="0"/>
                  </a:lnTo>
                  <a:lnTo>
                    <a:pt x="4274334" y="2167467"/>
                  </a:lnTo>
                  <a:lnTo>
                    <a:pt x="0" y="2167467"/>
                  </a:lnTo>
                  <a:close/>
                </a:path>
              </a:pathLst>
            </a:custGeom>
            <a:solidFill>
              <a:srgbClr val="FEFEFE"/>
            </a:solidFill>
          </p:spPr>
        </p:sp>
        <p:sp>
          <p:nvSpPr>
            <p:cNvPr name="TextBox 5" id="5"/>
            <p:cNvSpPr txBox="true"/>
            <p:nvPr/>
          </p:nvSpPr>
          <p:spPr>
            <a:xfrm>
              <a:off x="0" y="38100"/>
              <a:ext cx="4274335" cy="2129367"/>
            </a:xfrm>
            <a:prstGeom prst="rect">
              <a:avLst/>
            </a:prstGeom>
          </p:spPr>
          <p:txBody>
            <a:bodyPr anchor="ctr" rtlCol="false" tIns="50800" lIns="50800" bIns="50800" rIns="50800"/>
            <a:lstStyle/>
            <a:p>
              <a:pPr algn="ctr">
                <a:lnSpc>
                  <a:spcPts val="2481"/>
                </a:lnSpc>
              </a:pPr>
            </a:p>
          </p:txBody>
        </p:sp>
      </p:grpSp>
      <p:sp>
        <p:nvSpPr>
          <p:cNvPr name="Freeform 6" id="6"/>
          <p:cNvSpPr/>
          <p:nvPr/>
        </p:nvSpPr>
        <p:spPr>
          <a:xfrm flipH="false" flipV="false" rot="-10800000">
            <a:off x="6125872" y="9311584"/>
            <a:ext cx="6036256" cy="3303478"/>
          </a:xfrm>
          <a:custGeom>
            <a:avLst/>
            <a:gdLst/>
            <a:ahLst/>
            <a:cxnLst/>
            <a:rect r="r" b="b" t="t" l="l"/>
            <a:pathLst>
              <a:path h="3303478" w="6036256">
                <a:moveTo>
                  <a:pt x="0" y="0"/>
                </a:moveTo>
                <a:lnTo>
                  <a:pt x="6036256" y="0"/>
                </a:lnTo>
                <a:lnTo>
                  <a:pt x="6036256" y="3303479"/>
                </a:lnTo>
                <a:lnTo>
                  <a:pt x="0" y="33034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582499" y="1231768"/>
            <a:ext cx="12491946" cy="962151"/>
          </a:xfrm>
          <a:prstGeom prst="rect">
            <a:avLst/>
          </a:prstGeom>
        </p:spPr>
        <p:txBody>
          <a:bodyPr anchor="t" rtlCol="false" tIns="0" lIns="0" bIns="0" rIns="0">
            <a:spAutoFit/>
          </a:bodyPr>
          <a:lstStyle/>
          <a:p>
            <a:pPr algn="l">
              <a:lnSpc>
                <a:spcPts val="6751"/>
              </a:lnSpc>
            </a:pPr>
            <a:r>
              <a:rPr lang="en-US" sz="8439" b="true">
                <a:solidFill>
                  <a:srgbClr val="0463B5"/>
                </a:solidFill>
                <a:latin typeface="Roca One Bold"/>
                <a:ea typeface="Roca One Bold"/>
                <a:cs typeface="Roca One Bold"/>
                <a:sym typeface="Roca One Bold"/>
              </a:rPr>
              <a:t>EXISTING SYSTEM</a:t>
            </a:r>
          </a:p>
        </p:txBody>
      </p:sp>
      <p:sp>
        <p:nvSpPr>
          <p:cNvPr name="TextBox 8" id="8"/>
          <p:cNvSpPr txBox="true"/>
          <p:nvPr/>
        </p:nvSpPr>
        <p:spPr>
          <a:xfrm rot="0">
            <a:off x="1263463" y="2108194"/>
            <a:ext cx="16229114" cy="6186170"/>
          </a:xfrm>
          <a:prstGeom prst="rect">
            <a:avLst/>
          </a:prstGeom>
        </p:spPr>
        <p:txBody>
          <a:bodyPr anchor="t" rtlCol="false" tIns="0" lIns="0" bIns="0" rIns="0">
            <a:spAutoFit/>
          </a:bodyPr>
          <a:lstStyle/>
          <a:p>
            <a:pPr algn="l">
              <a:lnSpc>
                <a:spcPts val="4480"/>
              </a:lnSpc>
            </a:pPr>
          </a:p>
          <a:p>
            <a:pPr algn="l" marL="690881" indent="-345440" lvl="1">
              <a:lnSpc>
                <a:spcPts val="4480"/>
              </a:lnSpc>
              <a:buFont typeface="Arial"/>
              <a:buChar char="•"/>
            </a:pPr>
            <a:r>
              <a:rPr lang="en-US" sz="3200">
                <a:solidFill>
                  <a:srgbClr val="0D1C38"/>
                </a:solidFill>
                <a:latin typeface="Times New Roman"/>
                <a:ea typeface="Times New Roman"/>
                <a:cs typeface="Times New Roman"/>
                <a:sym typeface="Times New Roman"/>
              </a:rPr>
              <a:t>The existing system relies on manual or rule-based methods to detect fraudulent online transactions.</a:t>
            </a:r>
          </a:p>
          <a:p>
            <a:pPr algn="l" marL="690881" indent="-345440" lvl="1">
              <a:lnSpc>
                <a:spcPts val="4480"/>
              </a:lnSpc>
              <a:buFont typeface="Arial"/>
              <a:buChar char="•"/>
            </a:pPr>
            <a:r>
              <a:rPr lang="en-US" sz="3200">
                <a:solidFill>
                  <a:srgbClr val="0D1C38"/>
                </a:solidFill>
                <a:latin typeface="Times New Roman"/>
                <a:ea typeface="Times New Roman"/>
                <a:cs typeface="Times New Roman"/>
                <a:sym typeface="Times New Roman"/>
              </a:rPr>
              <a:t> It uses predefined rules such as transaction amount limits, location mismatches, or unusual login activity to flag potential fraud.</a:t>
            </a:r>
          </a:p>
          <a:p>
            <a:pPr algn="l" marL="690881" indent="-345440" lvl="1">
              <a:lnSpc>
                <a:spcPts val="4480"/>
              </a:lnSpc>
              <a:buFont typeface="Arial"/>
              <a:buChar char="•"/>
            </a:pPr>
            <a:r>
              <a:rPr lang="en-US" sz="3200">
                <a:solidFill>
                  <a:srgbClr val="0D1C38"/>
                </a:solidFill>
                <a:latin typeface="Times New Roman"/>
                <a:ea typeface="Times New Roman"/>
                <a:cs typeface="Times New Roman"/>
                <a:sym typeface="Times New Roman"/>
              </a:rPr>
              <a:t> These systems often generate a high number of false alerts and fail to detect new or evolving fraud patterns.</a:t>
            </a:r>
          </a:p>
          <a:p>
            <a:pPr algn="l" marL="690881" indent="-345440" lvl="1">
              <a:lnSpc>
                <a:spcPts val="4480"/>
              </a:lnSpc>
              <a:buFont typeface="Arial"/>
              <a:buChar char="•"/>
            </a:pPr>
            <a:r>
              <a:rPr lang="en-US" sz="3200">
                <a:solidFill>
                  <a:srgbClr val="0D1C38"/>
                </a:solidFill>
                <a:latin typeface="Times New Roman"/>
                <a:ea typeface="Times New Roman"/>
                <a:cs typeface="Times New Roman"/>
                <a:sym typeface="Times New Roman"/>
              </a:rPr>
              <a:t> They lack the ability to learn from past data and adapt to changing fraudulent behaviors.</a:t>
            </a:r>
          </a:p>
          <a:p>
            <a:pPr algn="l" marL="690881" indent="-345440" lvl="1">
              <a:lnSpc>
                <a:spcPts val="4480"/>
              </a:lnSpc>
              <a:buFont typeface="Arial"/>
              <a:buChar char="•"/>
            </a:pPr>
            <a:r>
              <a:rPr lang="en-US" sz="3200">
                <a:solidFill>
                  <a:srgbClr val="0D1C38"/>
                </a:solidFill>
                <a:latin typeface="Times New Roman"/>
                <a:ea typeface="Times New Roman"/>
                <a:cs typeface="Times New Roman"/>
                <a:sym typeface="Times New Roman"/>
              </a:rPr>
              <a:t> As a result, fraud detection is slower, less accurate, and less efficient in preventing real-time payment fraud.</a:t>
            </a:r>
          </a:p>
          <a:p>
            <a:pPr algn="l">
              <a:lnSpc>
                <a:spcPts val="4480"/>
              </a:lnSpc>
            </a:pPr>
          </a:p>
        </p:txBody>
      </p:sp>
      <p:sp>
        <p:nvSpPr>
          <p:cNvPr name="Freeform 9" id="9"/>
          <p:cNvSpPr/>
          <p:nvPr/>
        </p:nvSpPr>
        <p:spPr>
          <a:xfrm flipH="false" flipV="false" rot="0">
            <a:off x="-6405840" y="4562099"/>
            <a:ext cx="8623491" cy="8750775"/>
          </a:xfrm>
          <a:custGeom>
            <a:avLst/>
            <a:gdLst/>
            <a:ahLst/>
            <a:cxnLst/>
            <a:rect r="r" b="b" t="t" l="l"/>
            <a:pathLst>
              <a:path h="8750775" w="8623491">
                <a:moveTo>
                  <a:pt x="0" y="0"/>
                </a:moveTo>
                <a:lnTo>
                  <a:pt x="8623491" y="0"/>
                </a:lnTo>
                <a:lnTo>
                  <a:pt x="8623491" y="8750775"/>
                </a:lnTo>
                <a:lnTo>
                  <a:pt x="0" y="87507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true" rot="0">
            <a:off x="16692717" y="-2577599"/>
            <a:ext cx="8623491" cy="8750775"/>
          </a:xfrm>
          <a:custGeom>
            <a:avLst/>
            <a:gdLst/>
            <a:ahLst/>
            <a:cxnLst/>
            <a:rect r="r" b="b" t="t" l="l"/>
            <a:pathLst>
              <a:path h="8750775" w="8623491">
                <a:moveTo>
                  <a:pt x="8623491" y="8750776"/>
                </a:moveTo>
                <a:lnTo>
                  <a:pt x="0" y="8750776"/>
                </a:lnTo>
                <a:lnTo>
                  <a:pt x="0" y="0"/>
                </a:lnTo>
                <a:lnTo>
                  <a:pt x="8623491" y="0"/>
                </a:lnTo>
                <a:lnTo>
                  <a:pt x="8623491" y="8750776"/>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5597" t="0" r="-15597" b="0"/>
            </a:stretch>
          </a:blipFill>
        </p:spPr>
      </p:sp>
      <p:grpSp>
        <p:nvGrpSpPr>
          <p:cNvPr name="Group 3" id="3"/>
          <p:cNvGrpSpPr/>
          <p:nvPr/>
        </p:nvGrpSpPr>
        <p:grpSpPr>
          <a:xfrm rot="0">
            <a:off x="1263463" y="907918"/>
            <a:ext cx="16229114" cy="8229600"/>
            <a:chOff x="0" y="0"/>
            <a:chExt cx="4274335" cy="2167467"/>
          </a:xfrm>
        </p:grpSpPr>
        <p:sp>
          <p:nvSpPr>
            <p:cNvPr name="Freeform 4" id="4"/>
            <p:cNvSpPr/>
            <p:nvPr/>
          </p:nvSpPr>
          <p:spPr>
            <a:xfrm flipH="false" flipV="false" rot="0">
              <a:off x="0" y="0"/>
              <a:ext cx="4274334" cy="2167467"/>
            </a:xfrm>
            <a:custGeom>
              <a:avLst/>
              <a:gdLst/>
              <a:ahLst/>
              <a:cxnLst/>
              <a:rect r="r" b="b" t="t" l="l"/>
              <a:pathLst>
                <a:path h="2167467" w="4274334">
                  <a:moveTo>
                    <a:pt x="0" y="0"/>
                  </a:moveTo>
                  <a:lnTo>
                    <a:pt x="4274334" y="0"/>
                  </a:lnTo>
                  <a:lnTo>
                    <a:pt x="4274334" y="2167467"/>
                  </a:lnTo>
                  <a:lnTo>
                    <a:pt x="0" y="2167467"/>
                  </a:lnTo>
                  <a:close/>
                </a:path>
              </a:pathLst>
            </a:custGeom>
            <a:solidFill>
              <a:srgbClr val="FEFEFE"/>
            </a:solidFill>
          </p:spPr>
        </p:sp>
        <p:sp>
          <p:nvSpPr>
            <p:cNvPr name="TextBox 5" id="5"/>
            <p:cNvSpPr txBox="true"/>
            <p:nvPr/>
          </p:nvSpPr>
          <p:spPr>
            <a:xfrm>
              <a:off x="0" y="38100"/>
              <a:ext cx="4274335" cy="2129367"/>
            </a:xfrm>
            <a:prstGeom prst="rect">
              <a:avLst/>
            </a:prstGeom>
          </p:spPr>
          <p:txBody>
            <a:bodyPr anchor="ctr" rtlCol="false" tIns="50800" lIns="50800" bIns="50800" rIns="50800"/>
            <a:lstStyle/>
            <a:p>
              <a:pPr algn="ctr">
                <a:lnSpc>
                  <a:spcPts val="2481"/>
                </a:lnSpc>
              </a:pPr>
            </a:p>
          </p:txBody>
        </p:sp>
      </p:grpSp>
      <p:sp>
        <p:nvSpPr>
          <p:cNvPr name="Freeform 6" id="6"/>
          <p:cNvSpPr/>
          <p:nvPr/>
        </p:nvSpPr>
        <p:spPr>
          <a:xfrm flipH="false" flipV="false" rot="-10800000">
            <a:off x="6125872" y="9311584"/>
            <a:ext cx="6036256" cy="3303478"/>
          </a:xfrm>
          <a:custGeom>
            <a:avLst/>
            <a:gdLst/>
            <a:ahLst/>
            <a:cxnLst/>
            <a:rect r="r" b="b" t="t" l="l"/>
            <a:pathLst>
              <a:path h="3303478" w="6036256">
                <a:moveTo>
                  <a:pt x="0" y="0"/>
                </a:moveTo>
                <a:lnTo>
                  <a:pt x="6036256" y="0"/>
                </a:lnTo>
                <a:lnTo>
                  <a:pt x="6036256" y="3303479"/>
                </a:lnTo>
                <a:lnTo>
                  <a:pt x="0" y="33034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525967" y="1478639"/>
            <a:ext cx="12491946" cy="962151"/>
          </a:xfrm>
          <a:prstGeom prst="rect">
            <a:avLst/>
          </a:prstGeom>
        </p:spPr>
        <p:txBody>
          <a:bodyPr anchor="t" rtlCol="false" tIns="0" lIns="0" bIns="0" rIns="0">
            <a:spAutoFit/>
          </a:bodyPr>
          <a:lstStyle/>
          <a:p>
            <a:pPr algn="l">
              <a:lnSpc>
                <a:spcPts val="6751"/>
              </a:lnSpc>
            </a:pPr>
            <a:r>
              <a:rPr lang="en-US" sz="8439" b="true">
                <a:solidFill>
                  <a:srgbClr val="0463B5"/>
                </a:solidFill>
                <a:latin typeface="Roca One Bold"/>
                <a:ea typeface="Roca One Bold"/>
                <a:cs typeface="Roca One Bold"/>
                <a:sym typeface="Roca One Bold"/>
              </a:rPr>
              <a:t>PROPOSED SYSTEM</a:t>
            </a:r>
          </a:p>
        </p:txBody>
      </p:sp>
      <p:sp>
        <p:nvSpPr>
          <p:cNvPr name="TextBox 8" id="8"/>
          <p:cNvSpPr txBox="true"/>
          <p:nvPr/>
        </p:nvSpPr>
        <p:spPr>
          <a:xfrm rot="0">
            <a:off x="1263463" y="2108194"/>
            <a:ext cx="16229114" cy="5624195"/>
          </a:xfrm>
          <a:prstGeom prst="rect">
            <a:avLst/>
          </a:prstGeom>
        </p:spPr>
        <p:txBody>
          <a:bodyPr anchor="t" rtlCol="false" tIns="0" lIns="0" bIns="0" rIns="0">
            <a:spAutoFit/>
          </a:bodyPr>
          <a:lstStyle/>
          <a:p>
            <a:pPr algn="l">
              <a:lnSpc>
                <a:spcPts val="4480"/>
              </a:lnSpc>
            </a:pPr>
          </a:p>
          <a:p>
            <a:pPr algn="l" marL="690881" indent="-345440" lvl="1">
              <a:lnSpc>
                <a:spcPts val="4480"/>
              </a:lnSpc>
              <a:buFont typeface="Arial"/>
              <a:buChar char="•"/>
            </a:pPr>
            <a:r>
              <a:rPr lang="en-US" sz="3200">
                <a:solidFill>
                  <a:srgbClr val="0D1C38"/>
                </a:solidFill>
                <a:latin typeface="Times New Roman"/>
                <a:ea typeface="Times New Roman"/>
                <a:cs typeface="Times New Roman"/>
                <a:sym typeface="Times New Roman"/>
              </a:rPr>
              <a:t>The proposed system uses machine learning techniques to detect fraudulent online payment transactions.</a:t>
            </a:r>
          </a:p>
          <a:p>
            <a:pPr algn="l" marL="690881" indent="-345440" lvl="1">
              <a:lnSpc>
                <a:spcPts val="4480"/>
              </a:lnSpc>
              <a:buFont typeface="Arial"/>
              <a:buChar char="•"/>
            </a:pPr>
            <a:r>
              <a:rPr lang="en-US" sz="3200">
                <a:solidFill>
                  <a:srgbClr val="0D1C38"/>
                </a:solidFill>
                <a:latin typeface="Times New Roman"/>
                <a:ea typeface="Times New Roman"/>
                <a:cs typeface="Times New Roman"/>
                <a:sym typeface="Times New Roman"/>
              </a:rPr>
              <a:t>Transaction data is collected, cleaned, and analyzed to identify suspicious behavior patterns.</a:t>
            </a:r>
          </a:p>
          <a:p>
            <a:pPr algn="l" marL="690881" indent="-345440" lvl="1">
              <a:lnSpc>
                <a:spcPts val="4480"/>
              </a:lnSpc>
              <a:buFont typeface="Arial"/>
              <a:buChar char="•"/>
            </a:pPr>
            <a:r>
              <a:rPr lang="en-US" sz="3200">
                <a:solidFill>
                  <a:srgbClr val="0D1C38"/>
                </a:solidFill>
                <a:latin typeface="Times New Roman"/>
                <a:ea typeface="Times New Roman"/>
                <a:cs typeface="Times New Roman"/>
                <a:sym typeface="Times New Roman"/>
              </a:rPr>
              <a:t>Important features such as transaction amount, location, and time are used to train the model.</a:t>
            </a:r>
          </a:p>
          <a:p>
            <a:pPr algn="l" marL="690881" indent="-345440" lvl="1">
              <a:lnSpc>
                <a:spcPts val="4480"/>
              </a:lnSpc>
              <a:buFont typeface="Arial"/>
              <a:buChar char="•"/>
            </a:pPr>
            <a:r>
              <a:rPr lang="en-US" sz="3200">
                <a:solidFill>
                  <a:srgbClr val="0D1C38"/>
                </a:solidFill>
                <a:latin typeface="Times New Roman"/>
                <a:ea typeface="Times New Roman"/>
                <a:cs typeface="Times New Roman"/>
                <a:sym typeface="Times New Roman"/>
              </a:rPr>
              <a:t>Algorithms like Random Forest, Decision Tree, or XGBoost are applied to classify transactions as genuine or fraudulent.</a:t>
            </a:r>
          </a:p>
          <a:p>
            <a:pPr algn="l" marL="690881" indent="-345440" lvl="1">
              <a:lnSpc>
                <a:spcPts val="4480"/>
              </a:lnSpc>
              <a:buFont typeface="Arial"/>
              <a:buChar char="•"/>
            </a:pPr>
            <a:r>
              <a:rPr lang="en-US" sz="3200">
                <a:solidFill>
                  <a:srgbClr val="0D1C38"/>
                </a:solidFill>
                <a:latin typeface="Times New Roman"/>
                <a:ea typeface="Times New Roman"/>
                <a:cs typeface="Times New Roman"/>
                <a:sym typeface="Times New Roman"/>
              </a:rPr>
              <a:t>The trained model is deployed to monitor and detect fraud in real time, ensuring secure online payments.</a:t>
            </a:r>
          </a:p>
          <a:p>
            <a:pPr algn="l">
              <a:lnSpc>
                <a:spcPts val="4480"/>
              </a:lnSpc>
              <a:spcBef>
                <a:spcPct val="0"/>
              </a:spcBef>
            </a:pPr>
          </a:p>
        </p:txBody>
      </p:sp>
      <p:sp>
        <p:nvSpPr>
          <p:cNvPr name="Freeform 9" id="9"/>
          <p:cNvSpPr/>
          <p:nvPr/>
        </p:nvSpPr>
        <p:spPr>
          <a:xfrm flipH="false" flipV="false" rot="0">
            <a:off x="-6405840" y="4562099"/>
            <a:ext cx="8623491" cy="8750775"/>
          </a:xfrm>
          <a:custGeom>
            <a:avLst/>
            <a:gdLst/>
            <a:ahLst/>
            <a:cxnLst/>
            <a:rect r="r" b="b" t="t" l="l"/>
            <a:pathLst>
              <a:path h="8750775" w="8623491">
                <a:moveTo>
                  <a:pt x="0" y="0"/>
                </a:moveTo>
                <a:lnTo>
                  <a:pt x="8623491" y="0"/>
                </a:lnTo>
                <a:lnTo>
                  <a:pt x="8623491" y="8750775"/>
                </a:lnTo>
                <a:lnTo>
                  <a:pt x="0" y="87507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true" rot="0">
            <a:off x="16692717" y="-2577599"/>
            <a:ext cx="8623491" cy="8750775"/>
          </a:xfrm>
          <a:custGeom>
            <a:avLst/>
            <a:gdLst/>
            <a:ahLst/>
            <a:cxnLst/>
            <a:rect r="r" b="b" t="t" l="l"/>
            <a:pathLst>
              <a:path h="8750775" w="8623491">
                <a:moveTo>
                  <a:pt x="8623491" y="8750776"/>
                </a:moveTo>
                <a:lnTo>
                  <a:pt x="0" y="8750776"/>
                </a:lnTo>
                <a:lnTo>
                  <a:pt x="0" y="0"/>
                </a:lnTo>
                <a:lnTo>
                  <a:pt x="8623491" y="0"/>
                </a:lnTo>
                <a:lnTo>
                  <a:pt x="8623491" y="8750776"/>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5597" t="0" r="-15597" b="0"/>
            </a:stretch>
          </a:blipFill>
        </p:spPr>
      </p:sp>
      <p:grpSp>
        <p:nvGrpSpPr>
          <p:cNvPr name="Group 3" id="3"/>
          <p:cNvGrpSpPr/>
          <p:nvPr/>
        </p:nvGrpSpPr>
        <p:grpSpPr>
          <a:xfrm rot="0">
            <a:off x="1029443" y="1028700"/>
            <a:ext cx="16229114" cy="8229600"/>
            <a:chOff x="0" y="0"/>
            <a:chExt cx="4274335" cy="2167467"/>
          </a:xfrm>
        </p:grpSpPr>
        <p:sp>
          <p:nvSpPr>
            <p:cNvPr name="Freeform 4" id="4"/>
            <p:cNvSpPr/>
            <p:nvPr/>
          </p:nvSpPr>
          <p:spPr>
            <a:xfrm flipH="false" flipV="false" rot="0">
              <a:off x="0" y="0"/>
              <a:ext cx="4274334" cy="2167467"/>
            </a:xfrm>
            <a:custGeom>
              <a:avLst/>
              <a:gdLst/>
              <a:ahLst/>
              <a:cxnLst/>
              <a:rect r="r" b="b" t="t" l="l"/>
              <a:pathLst>
                <a:path h="2167467" w="4274334">
                  <a:moveTo>
                    <a:pt x="0" y="0"/>
                  </a:moveTo>
                  <a:lnTo>
                    <a:pt x="4274334" y="0"/>
                  </a:lnTo>
                  <a:lnTo>
                    <a:pt x="4274334" y="2167467"/>
                  </a:lnTo>
                  <a:lnTo>
                    <a:pt x="0" y="2167467"/>
                  </a:lnTo>
                  <a:close/>
                </a:path>
              </a:pathLst>
            </a:custGeom>
            <a:solidFill>
              <a:srgbClr val="FEFEFE"/>
            </a:solidFill>
          </p:spPr>
        </p:sp>
        <p:sp>
          <p:nvSpPr>
            <p:cNvPr name="TextBox 5" id="5"/>
            <p:cNvSpPr txBox="true"/>
            <p:nvPr/>
          </p:nvSpPr>
          <p:spPr>
            <a:xfrm>
              <a:off x="0" y="38100"/>
              <a:ext cx="4274335" cy="2129367"/>
            </a:xfrm>
            <a:prstGeom prst="rect">
              <a:avLst/>
            </a:prstGeom>
          </p:spPr>
          <p:txBody>
            <a:bodyPr anchor="ctr" rtlCol="false" tIns="50800" lIns="50800" bIns="50800" rIns="50800"/>
            <a:lstStyle/>
            <a:p>
              <a:pPr algn="ctr">
                <a:lnSpc>
                  <a:spcPts val="2481"/>
                </a:lnSpc>
              </a:pPr>
            </a:p>
          </p:txBody>
        </p:sp>
      </p:grpSp>
      <p:sp>
        <p:nvSpPr>
          <p:cNvPr name="Freeform 6" id="6"/>
          <p:cNvSpPr/>
          <p:nvPr/>
        </p:nvSpPr>
        <p:spPr>
          <a:xfrm flipH="true" flipV="true" rot="0">
            <a:off x="16310046" y="-2312817"/>
            <a:ext cx="8623491" cy="8750775"/>
          </a:xfrm>
          <a:custGeom>
            <a:avLst/>
            <a:gdLst/>
            <a:ahLst/>
            <a:cxnLst/>
            <a:rect r="r" b="b" t="t" l="l"/>
            <a:pathLst>
              <a:path h="8750775" w="8623491">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630940" y="3864288"/>
            <a:ext cx="8623491" cy="8750775"/>
          </a:xfrm>
          <a:custGeom>
            <a:avLst/>
            <a:gdLst/>
            <a:ahLst/>
            <a:cxnLst/>
            <a:rect r="r" b="b" t="t" l="l"/>
            <a:pathLst>
              <a:path h="8750775" w="8623491">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10800000">
            <a:off x="6125872" y="9311584"/>
            <a:ext cx="6036256" cy="3303478"/>
          </a:xfrm>
          <a:custGeom>
            <a:avLst/>
            <a:gdLst/>
            <a:ahLst/>
            <a:cxnLst/>
            <a:rect r="r" b="b" t="t" l="l"/>
            <a:pathLst>
              <a:path h="3303478" w="6036256">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2476857" y="2314701"/>
            <a:ext cx="13183702" cy="6408797"/>
          </a:xfrm>
          <a:custGeom>
            <a:avLst/>
            <a:gdLst/>
            <a:ahLst/>
            <a:cxnLst/>
            <a:rect r="r" b="b" t="t" l="l"/>
            <a:pathLst>
              <a:path h="6408797" w="13183702">
                <a:moveTo>
                  <a:pt x="0" y="0"/>
                </a:moveTo>
                <a:lnTo>
                  <a:pt x="13183702" y="0"/>
                </a:lnTo>
                <a:lnTo>
                  <a:pt x="13183702" y="6408797"/>
                </a:lnTo>
                <a:lnTo>
                  <a:pt x="0" y="6408797"/>
                </a:lnTo>
                <a:lnTo>
                  <a:pt x="0" y="0"/>
                </a:lnTo>
                <a:close/>
              </a:path>
            </a:pathLst>
          </a:custGeom>
          <a:blipFill>
            <a:blip r:embed="rId7"/>
            <a:stretch>
              <a:fillRect l="0" t="-10170" r="0" b="-10170"/>
            </a:stretch>
          </a:blipFill>
        </p:spPr>
      </p:sp>
      <p:sp>
        <p:nvSpPr>
          <p:cNvPr name="TextBox 10" id="10"/>
          <p:cNvSpPr txBox="true"/>
          <p:nvPr/>
        </p:nvSpPr>
        <p:spPr>
          <a:xfrm rot="0">
            <a:off x="1351707" y="1352550"/>
            <a:ext cx="14619538" cy="962151"/>
          </a:xfrm>
          <a:prstGeom prst="rect">
            <a:avLst/>
          </a:prstGeom>
        </p:spPr>
        <p:txBody>
          <a:bodyPr anchor="t" rtlCol="false" tIns="0" lIns="0" bIns="0" rIns="0">
            <a:spAutoFit/>
          </a:bodyPr>
          <a:lstStyle/>
          <a:p>
            <a:pPr algn="l">
              <a:lnSpc>
                <a:spcPts val="6751"/>
              </a:lnSpc>
            </a:pPr>
            <a:r>
              <a:rPr lang="en-US" b="true" sz="8439">
                <a:solidFill>
                  <a:srgbClr val="0463B5"/>
                </a:solidFill>
                <a:latin typeface="Roca One Bold"/>
                <a:ea typeface="Roca One Bold"/>
                <a:cs typeface="Roca One Bold"/>
                <a:sym typeface="Roca One Bold"/>
              </a:rPr>
              <a:t>ARCHITECTURE DIAGRAM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5597" t="0" r="-15597" b="0"/>
            </a:stretch>
          </a:blipFill>
        </p:spPr>
      </p:sp>
      <p:grpSp>
        <p:nvGrpSpPr>
          <p:cNvPr name="Group 3" id="3"/>
          <p:cNvGrpSpPr/>
          <p:nvPr/>
        </p:nvGrpSpPr>
        <p:grpSpPr>
          <a:xfrm rot="0">
            <a:off x="1029443" y="1028700"/>
            <a:ext cx="16229114" cy="8229600"/>
            <a:chOff x="0" y="0"/>
            <a:chExt cx="4274335" cy="2167467"/>
          </a:xfrm>
        </p:grpSpPr>
        <p:sp>
          <p:nvSpPr>
            <p:cNvPr name="Freeform 4" id="4"/>
            <p:cNvSpPr/>
            <p:nvPr/>
          </p:nvSpPr>
          <p:spPr>
            <a:xfrm flipH="false" flipV="false" rot="0">
              <a:off x="0" y="0"/>
              <a:ext cx="4274334" cy="2167467"/>
            </a:xfrm>
            <a:custGeom>
              <a:avLst/>
              <a:gdLst/>
              <a:ahLst/>
              <a:cxnLst/>
              <a:rect r="r" b="b" t="t" l="l"/>
              <a:pathLst>
                <a:path h="2167467" w="4274334">
                  <a:moveTo>
                    <a:pt x="0" y="0"/>
                  </a:moveTo>
                  <a:lnTo>
                    <a:pt x="4274334" y="0"/>
                  </a:lnTo>
                  <a:lnTo>
                    <a:pt x="4274334" y="2167467"/>
                  </a:lnTo>
                  <a:lnTo>
                    <a:pt x="0" y="2167467"/>
                  </a:lnTo>
                  <a:close/>
                </a:path>
              </a:pathLst>
            </a:custGeom>
            <a:solidFill>
              <a:srgbClr val="FEFEFE"/>
            </a:solidFill>
          </p:spPr>
        </p:sp>
        <p:sp>
          <p:nvSpPr>
            <p:cNvPr name="TextBox 5" id="5"/>
            <p:cNvSpPr txBox="true"/>
            <p:nvPr/>
          </p:nvSpPr>
          <p:spPr>
            <a:xfrm>
              <a:off x="0" y="57150"/>
              <a:ext cx="4274335" cy="2110317"/>
            </a:xfrm>
            <a:prstGeom prst="rect">
              <a:avLst/>
            </a:prstGeom>
          </p:spPr>
          <p:txBody>
            <a:bodyPr anchor="ctr" rtlCol="false" tIns="50800" lIns="50800" bIns="50800" rIns="50800"/>
            <a:lstStyle/>
            <a:p>
              <a:pPr algn="ctr">
                <a:lnSpc>
                  <a:spcPts val="2481"/>
                </a:lnSpc>
              </a:pPr>
            </a:p>
          </p:txBody>
        </p:sp>
      </p:grpSp>
      <p:sp>
        <p:nvSpPr>
          <p:cNvPr name="Freeform 6" id="6"/>
          <p:cNvSpPr/>
          <p:nvPr/>
        </p:nvSpPr>
        <p:spPr>
          <a:xfrm flipH="true" flipV="true" rot="0">
            <a:off x="16310046" y="-2312817"/>
            <a:ext cx="8623491" cy="8750775"/>
          </a:xfrm>
          <a:custGeom>
            <a:avLst/>
            <a:gdLst/>
            <a:ahLst/>
            <a:cxnLst/>
            <a:rect r="r" b="b" t="t" l="l"/>
            <a:pathLst>
              <a:path h="8750775" w="8623491">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630940" y="3864288"/>
            <a:ext cx="8623491" cy="8750775"/>
          </a:xfrm>
          <a:custGeom>
            <a:avLst/>
            <a:gdLst/>
            <a:ahLst/>
            <a:cxnLst/>
            <a:rect r="r" b="b" t="t" l="l"/>
            <a:pathLst>
              <a:path h="8750775" w="8623491">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10800000">
            <a:off x="6125872" y="9311584"/>
            <a:ext cx="6036256" cy="3303478"/>
          </a:xfrm>
          <a:custGeom>
            <a:avLst/>
            <a:gdLst/>
            <a:ahLst/>
            <a:cxnLst/>
            <a:rect r="r" b="b" t="t" l="l"/>
            <a:pathLst>
              <a:path h="3303478" w="6036256">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3098670" y="1671700"/>
            <a:ext cx="12217074" cy="7483918"/>
          </a:xfrm>
          <a:custGeom>
            <a:avLst/>
            <a:gdLst/>
            <a:ahLst/>
            <a:cxnLst/>
            <a:rect r="r" b="b" t="t" l="l"/>
            <a:pathLst>
              <a:path h="7483918" w="12217074">
                <a:moveTo>
                  <a:pt x="0" y="0"/>
                </a:moveTo>
                <a:lnTo>
                  <a:pt x="12217075" y="0"/>
                </a:lnTo>
                <a:lnTo>
                  <a:pt x="12217075" y="7483919"/>
                </a:lnTo>
                <a:lnTo>
                  <a:pt x="0" y="7483919"/>
                </a:lnTo>
                <a:lnTo>
                  <a:pt x="0" y="0"/>
                </a:lnTo>
                <a:close/>
              </a:path>
            </a:pathLst>
          </a:custGeom>
          <a:blipFill>
            <a:blip r:embed="rId7"/>
            <a:stretch>
              <a:fillRect l="0" t="0" r="0" b="0"/>
            </a:stretch>
          </a:blipFill>
        </p:spPr>
      </p:sp>
      <p:sp>
        <p:nvSpPr>
          <p:cNvPr name="TextBox 10" id="10"/>
          <p:cNvSpPr txBox="true"/>
          <p:nvPr/>
        </p:nvSpPr>
        <p:spPr>
          <a:xfrm rot="0">
            <a:off x="4019255" y="1352550"/>
            <a:ext cx="9559952" cy="962151"/>
          </a:xfrm>
          <a:prstGeom prst="rect">
            <a:avLst/>
          </a:prstGeom>
        </p:spPr>
        <p:txBody>
          <a:bodyPr anchor="t" rtlCol="false" tIns="0" lIns="0" bIns="0" rIns="0">
            <a:spAutoFit/>
          </a:bodyPr>
          <a:lstStyle/>
          <a:p>
            <a:pPr algn="ctr">
              <a:lnSpc>
                <a:spcPts val="6751"/>
              </a:lnSpc>
            </a:pPr>
            <a:r>
              <a:rPr lang="en-US" b="true" sz="8439">
                <a:solidFill>
                  <a:srgbClr val="0463B5"/>
                </a:solidFill>
                <a:latin typeface="Roca One Bold"/>
                <a:ea typeface="Roca One Bold"/>
                <a:cs typeface="Roca One Bold"/>
                <a:sym typeface="Roca One Bold"/>
              </a:rPr>
              <a:t>OUTPUT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5597" t="0" r="-15597" b="0"/>
            </a:stretch>
          </a:blipFill>
        </p:spPr>
      </p:sp>
      <p:grpSp>
        <p:nvGrpSpPr>
          <p:cNvPr name="Group 3" id="3"/>
          <p:cNvGrpSpPr/>
          <p:nvPr/>
        </p:nvGrpSpPr>
        <p:grpSpPr>
          <a:xfrm rot="0">
            <a:off x="1727997" y="758580"/>
            <a:ext cx="16229114" cy="8229600"/>
            <a:chOff x="0" y="0"/>
            <a:chExt cx="4274335" cy="2167467"/>
          </a:xfrm>
        </p:grpSpPr>
        <p:sp>
          <p:nvSpPr>
            <p:cNvPr name="Freeform 4" id="4"/>
            <p:cNvSpPr/>
            <p:nvPr/>
          </p:nvSpPr>
          <p:spPr>
            <a:xfrm flipH="false" flipV="false" rot="0">
              <a:off x="0" y="0"/>
              <a:ext cx="4274334" cy="2167467"/>
            </a:xfrm>
            <a:custGeom>
              <a:avLst/>
              <a:gdLst/>
              <a:ahLst/>
              <a:cxnLst/>
              <a:rect r="r" b="b" t="t" l="l"/>
              <a:pathLst>
                <a:path h="2167467" w="4274334">
                  <a:moveTo>
                    <a:pt x="0" y="0"/>
                  </a:moveTo>
                  <a:lnTo>
                    <a:pt x="4274334" y="0"/>
                  </a:lnTo>
                  <a:lnTo>
                    <a:pt x="4274334" y="2167467"/>
                  </a:lnTo>
                  <a:lnTo>
                    <a:pt x="0" y="2167467"/>
                  </a:lnTo>
                  <a:close/>
                </a:path>
              </a:pathLst>
            </a:custGeom>
            <a:solidFill>
              <a:srgbClr val="FEFEFE"/>
            </a:solidFill>
          </p:spPr>
        </p:sp>
        <p:sp>
          <p:nvSpPr>
            <p:cNvPr name="TextBox 5" id="5"/>
            <p:cNvSpPr txBox="true"/>
            <p:nvPr/>
          </p:nvSpPr>
          <p:spPr>
            <a:xfrm>
              <a:off x="0" y="38100"/>
              <a:ext cx="4274335" cy="2129367"/>
            </a:xfrm>
            <a:prstGeom prst="rect">
              <a:avLst/>
            </a:prstGeom>
          </p:spPr>
          <p:txBody>
            <a:bodyPr anchor="ctr" rtlCol="false" tIns="50800" lIns="50800" bIns="50800" rIns="50800"/>
            <a:lstStyle/>
            <a:p>
              <a:pPr algn="ctr">
                <a:lnSpc>
                  <a:spcPts val="2481"/>
                </a:lnSpc>
              </a:pPr>
            </a:p>
          </p:txBody>
        </p:sp>
      </p:grpSp>
      <p:sp>
        <p:nvSpPr>
          <p:cNvPr name="Freeform 6" id="6"/>
          <p:cNvSpPr/>
          <p:nvPr/>
        </p:nvSpPr>
        <p:spPr>
          <a:xfrm flipH="false" flipV="false" rot="-10800000">
            <a:off x="6125872" y="9311584"/>
            <a:ext cx="6036256" cy="3303478"/>
          </a:xfrm>
          <a:custGeom>
            <a:avLst/>
            <a:gdLst/>
            <a:ahLst/>
            <a:cxnLst/>
            <a:rect r="r" b="b" t="t" l="l"/>
            <a:pathLst>
              <a:path h="3303478" w="6036256">
                <a:moveTo>
                  <a:pt x="0" y="0"/>
                </a:moveTo>
                <a:lnTo>
                  <a:pt x="6036256" y="0"/>
                </a:lnTo>
                <a:lnTo>
                  <a:pt x="6036256" y="3303479"/>
                </a:lnTo>
                <a:lnTo>
                  <a:pt x="0" y="33034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690362" y="1352550"/>
            <a:ext cx="13468956" cy="962151"/>
          </a:xfrm>
          <a:prstGeom prst="rect">
            <a:avLst/>
          </a:prstGeom>
        </p:spPr>
        <p:txBody>
          <a:bodyPr anchor="t" rtlCol="false" tIns="0" lIns="0" bIns="0" rIns="0">
            <a:spAutoFit/>
          </a:bodyPr>
          <a:lstStyle/>
          <a:p>
            <a:pPr algn="ctr">
              <a:lnSpc>
                <a:spcPts val="6751"/>
              </a:lnSpc>
            </a:pPr>
            <a:r>
              <a:rPr lang="en-US" b="true" sz="8439">
                <a:solidFill>
                  <a:srgbClr val="0463B5"/>
                </a:solidFill>
                <a:latin typeface="Roca One Bold"/>
                <a:ea typeface="Roca One Bold"/>
                <a:cs typeface="Roca One Bold"/>
                <a:sym typeface="Roca One Bold"/>
              </a:rPr>
              <a:t>MODULE DESCRIPTION</a:t>
            </a:r>
          </a:p>
        </p:txBody>
      </p:sp>
      <p:sp>
        <p:nvSpPr>
          <p:cNvPr name="TextBox 8" id="8"/>
          <p:cNvSpPr txBox="true"/>
          <p:nvPr/>
        </p:nvSpPr>
        <p:spPr>
          <a:xfrm rot="0">
            <a:off x="1902841" y="2451748"/>
            <a:ext cx="15879426" cy="6053455"/>
          </a:xfrm>
          <a:prstGeom prst="rect">
            <a:avLst/>
          </a:prstGeom>
        </p:spPr>
        <p:txBody>
          <a:bodyPr anchor="t" rtlCol="false" tIns="0" lIns="0" bIns="0" rIns="0">
            <a:spAutoFit/>
          </a:bodyPr>
          <a:lstStyle/>
          <a:p>
            <a:pPr algn="just">
              <a:lnSpc>
                <a:spcPts val="3200"/>
              </a:lnSpc>
              <a:spcBef>
                <a:spcPct val="0"/>
              </a:spcBef>
            </a:pPr>
            <a:r>
              <a:rPr lang="en-US" b="true" sz="3200" spc="48">
                <a:solidFill>
                  <a:srgbClr val="0D1C38"/>
                </a:solidFill>
                <a:latin typeface="Times New Roman Bold"/>
                <a:ea typeface="Times New Roman Bold"/>
                <a:cs typeface="Times New Roman Bold"/>
                <a:sym typeface="Times New Roman Bold"/>
              </a:rPr>
              <a:t>Data Collection:</a:t>
            </a:r>
          </a:p>
          <a:p>
            <a:pPr algn="just">
              <a:lnSpc>
                <a:spcPts val="3200"/>
              </a:lnSpc>
              <a:spcBef>
                <a:spcPct val="0"/>
              </a:spcBef>
            </a:pPr>
          </a:p>
          <a:p>
            <a:pPr algn="just">
              <a:lnSpc>
                <a:spcPts val="3200"/>
              </a:lnSpc>
              <a:spcBef>
                <a:spcPct val="0"/>
              </a:spcBef>
            </a:pPr>
            <a:r>
              <a:rPr lang="en-US" b="true" sz="3200" spc="48">
                <a:solidFill>
                  <a:srgbClr val="0D1C38"/>
                </a:solidFill>
                <a:latin typeface="Times New Roman Bold"/>
                <a:ea typeface="Times New Roman Bold"/>
                <a:cs typeface="Times New Roman Bold"/>
                <a:sym typeface="Times New Roman Bold"/>
              </a:rPr>
              <a:t>    </a:t>
            </a:r>
            <a:r>
              <a:rPr lang="en-US" sz="3200" spc="48">
                <a:solidFill>
                  <a:srgbClr val="0D1C38"/>
                </a:solidFill>
                <a:latin typeface="Times New Roman"/>
                <a:ea typeface="Times New Roman"/>
                <a:cs typeface="Times New Roman"/>
                <a:sym typeface="Times New Roman"/>
              </a:rPr>
              <a:t>Collect a dataset containing records of both genuine and fraudulent online transactions.The data may include features like transaction amount, time, location, and payment method.  </a:t>
            </a:r>
          </a:p>
          <a:p>
            <a:pPr algn="just">
              <a:lnSpc>
                <a:spcPts val="3200"/>
              </a:lnSpc>
              <a:spcBef>
                <a:spcPct val="0"/>
              </a:spcBef>
            </a:pPr>
          </a:p>
          <a:p>
            <a:pPr algn="just">
              <a:lnSpc>
                <a:spcPts val="3200"/>
              </a:lnSpc>
              <a:spcBef>
                <a:spcPct val="0"/>
              </a:spcBef>
            </a:pPr>
            <a:r>
              <a:rPr lang="en-US" b="true" sz="3200" spc="48">
                <a:solidFill>
                  <a:srgbClr val="0D1C38"/>
                </a:solidFill>
                <a:latin typeface="Times New Roman Bold"/>
                <a:ea typeface="Times New Roman Bold"/>
                <a:cs typeface="Times New Roman Bold"/>
                <a:sym typeface="Times New Roman Bold"/>
              </a:rPr>
              <a:t>Data Preprocessing:</a:t>
            </a:r>
          </a:p>
          <a:p>
            <a:pPr algn="just">
              <a:lnSpc>
                <a:spcPts val="3200"/>
              </a:lnSpc>
              <a:spcBef>
                <a:spcPct val="0"/>
              </a:spcBef>
            </a:pPr>
          </a:p>
          <a:p>
            <a:pPr algn="just">
              <a:lnSpc>
                <a:spcPts val="3200"/>
              </a:lnSpc>
              <a:spcBef>
                <a:spcPct val="0"/>
              </a:spcBef>
            </a:pPr>
            <a:r>
              <a:rPr lang="en-US" sz="3200" spc="48">
                <a:solidFill>
                  <a:srgbClr val="0D1C38"/>
                </a:solidFill>
                <a:latin typeface="Times New Roman"/>
                <a:ea typeface="Times New Roman"/>
                <a:cs typeface="Times New Roman"/>
                <a:sym typeface="Times New Roman"/>
              </a:rPr>
              <a:t>  Clean the dataset removing duplicates, handling missing values and normalizing data. Encode categorical features and scale numerical values for better model performance.</a:t>
            </a:r>
          </a:p>
          <a:p>
            <a:pPr algn="just">
              <a:lnSpc>
                <a:spcPts val="3200"/>
              </a:lnSpc>
              <a:spcBef>
                <a:spcPct val="0"/>
              </a:spcBef>
            </a:pPr>
            <a:r>
              <a:rPr lang="en-US" sz="3200" spc="48">
                <a:solidFill>
                  <a:srgbClr val="0D1C38"/>
                </a:solidFill>
                <a:latin typeface="Times New Roman"/>
                <a:ea typeface="Times New Roman"/>
                <a:cs typeface="Times New Roman"/>
                <a:sym typeface="Times New Roman"/>
              </a:rPr>
              <a:t> </a:t>
            </a:r>
          </a:p>
          <a:p>
            <a:pPr algn="just">
              <a:lnSpc>
                <a:spcPts val="3200"/>
              </a:lnSpc>
              <a:spcBef>
                <a:spcPct val="0"/>
              </a:spcBef>
            </a:pPr>
            <a:r>
              <a:rPr lang="en-US" b="true" sz="3200" spc="48">
                <a:solidFill>
                  <a:srgbClr val="0D1C38"/>
                </a:solidFill>
                <a:latin typeface="Times New Roman Bold"/>
                <a:ea typeface="Times New Roman Bold"/>
                <a:cs typeface="Times New Roman Bold"/>
                <a:sym typeface="Times New Roman Bold"/>
              </a:rPr>
              <a:t>Feature Engineering:</a:t>
            </a:r>
          </a:p>
          <a:p>
            <a:pPr algn="just">
              <a:lnSpc>
                <a:spcPts val="3200"/>
              </a:lnSpc>
              <a:spcBef>
                <a:spcPct val="0"/>
              </a:spcBef>
            </a:pPr>
          </a:p>
          <a:p>
            <a:pPr algn="just">
              <a:lnSpc>
                <a:spcPts val="3200"/>
              </a:lnSpc>
              <a:spcBef>
                <a:spcPct val="0"/>
              </a:spcBef>
            </a:pPr>
            <a:r>
              <a:rPr lang="en-US" sz="3200" spc="48">
                <a:solidFill>
                  <a:srgbClr val="0D1C38"/>
                </a:solidFill>
                <a:latin typeface="Times New Roman"/>
                <a:ea typeface="Times New Roman"/>
                <a:cs typeface="Times New Roman"/>
                <a:sym typeface="Times New Roman"/>
              </a:rPr>
              <a:t>     Identify and create meaningful features that capture abnormal transaction behavior.</a:t>
            </a:r>
          </a:p>
          <a:p>
            <a:pPr algn="just">
              <a:lnSpc>
                <a:spcPts val="3200"/>
              </a:lnSpc>
              <a:spcBef>
                <a:spcPct val="0"/>
              </a:spcBef>
            </a:pPr>
            <a:r>
              <a:rPr lang="en-US" sz="3200" spc="48">
                <a:solidFill>
                  <a:srgbClr val="0D1C38"/>
                </a:solidFill>
                <a:latin typeface="Times New Roman"/>
                <a:ea typeface="Times New Roman"/>
                <a:cs typeface="Times New Roman"/>
                <a:sym typeface="Times New Roman"/>
              </a:rPr>
              <a:t>Examples include frequency of transactions, average spending, and unusual location changes.</a:t>
            </a:r>
          </a:p>
          <a:p>
            <a:pPr algn="just">
              <a:lnSpc>
                <a:spcPts val="3200"/>
              </a:lnSpc>
              <a:spcBef>
                <a:spcPct val="0"/>
              </a:spcBef>
            </a:pPr>
            <a:r>
              <a:rPr lang="en-US" sz="3200" spc="48">
                <a:solidFill>
                  <a:srgbClr val="0D1C38"/>
                </a:solidFill>
                <a:latin typeface="Times New Roman"/>
                <a:ea typeface="Times New Roman"/>
                <a:cs typeface="Times New Roman"/>
                <a:sym typeface="Times New Roman"/>
              </a:rPr>
              <a:t> </a:t>
            </a:r>
          </a:p>
        </p:txBody>
      </p:sp>
      <p:sp>
        <p:nvSpPr>
          <p:cNvPr name="Freeform 9" id="9"/>
          <p:cNvSpPr/>
          <p:nvPr/>
        </p:nvSpPr>
        <p:spPr>
          <a:xfrm flipH="false" flipV="false" rot="0">
            <a:off x="-5933129" y="4612792"/>
            <a:ext cx="8623491" cy="8750775"/>
          </a:xfrm>
          <a:custGeom>
            <a:avLst/>
            <a:gdLst/>
            <a:ahLst/>
            <a:cxnLst/>
            <a:rect r="r" b="b" t="t" l="l"/>
            <a:pathLst>
              <a:path h="8750775" w="8623491">
                <a:moveTo>
                  <a:pt x="0" y="0"/>
                </a:moveTo>
                <a:lnTo>
                  <a:pt x="8623491" y="0"/>
                </a:lnTo>
                <a:lnTo>
                  <a:pt x="8623491" y="8750775"/>
                </a:lnTo>
                <a:lnTo>
                  <a:pt x="0" y="87507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true" rot="0">
            <a:off x="16940328" y="-2432734"/>
            <a:ext cx="8623491" cy="8750775"/>
          </a:xfrm>
          <a:custGeom>
            <a:avLst/>
            <a:gdLst/>
            <a:ahLst/>
            <a:cxnLst/>
            <a:rect r="r" b="b" t="t" l="l"/>
            <a:pathLst>
              <a:path h="8750775" w="8623491">
                <a:moveTo>
                  <a:pt x="8623491" y="8750775"/>
                </a:moveTo>
                <a:lnTo>
                  <a:pt x="0" y="8750775"/>
                </a:lnTo>
                <a:lnTo>
                  <a:pt x="0" y="0"/>
                </a:lnTo>
                <a:lnTo>
                  <a:pt x="8623491" y="0"/>
                </a:lnTo>
                <a:lnTo>
                  <a:pt x="8623491" y="8750775"/>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5597" t="0" r="-15597" b="0"/>
            </a:stretch>
          </a:blipFill>
        </p:spPr>
      </p:sp>
      <p:grpSp>
        <p:nvGrpSpPr>
          <p:cNvPr name="Group 3" id="3"/>
          <p:cNvGrpSpPr/>
          <p:nvPr/>
        </p:nvGrpSpPr>
        <p:grpSpPr>
          <a:xfrm rot="0">
            <a:off x="2058886" y="1284575"/>
            <a:ext cx="16229114" cy="8229600"/>
            <a:chOff x="0" y="0"/>
            <a:chExt cx="4274335" cy="2167467"/>
          </a:xfrm>
        </p:grpSpPr>
        <p:sp>
          <p:nvSpPr>
            <p:cNvPr name="Freeform 4" id="4"/>
            <p:cNvSpPr/>
            <p:nvPr/>
          </p:nvSpPr>
          <p:spPr>
            <a:xfrm flipH="false" flipV="false" rot="0">
              <a:off x="0" y="0"/>
              <a:ext cx="4274334" cy="2167467"/>
            </a:xfrm>
            <a:custGeom>
              <a:avLst/>
              <a:gdLst/>
              <a:ahLst/>
              <a:cxnLst/>
              <a:rect r="r" b="b" t="t" l="l"/>
              <a:pathLst>
                <a:path h="2167467" w="4274334">
                  <a:moveTo>
                    <a:pt x="0" y="0"/>
                  </a:moveTo>
                  <a:lnTo>
                    <a:pt x="4274334" y="0"/>
                  </a:lnTo>
                  <a:lnTo>
                    <a:pt x="4274334" y="2167467"/>
                  </a:lnTo>
                  <a:lnTo>
                    <a:pt x="0" y="2167467"/>
                  </a:lnTo>
                  <a:close/>
                </a:path>
              </a:pathLst>
            </a:custGeom>
            <a:solidFill>
              <a:srgbClr val="FEFEFE"/>
            </a:solidFill>
          </p:spPr>
        </p:sp>
        <p:sp>
          <p:nvSpPr>
            <p:cNvPr name="TextBox 5" id="5"/>
            <p:cNvSpPr txBox="true"/>
            <p:nvPr/>
          </p:nvSpPr>
          <p:spPr>
            <a:xfrm>
              <a:off x="0" y="38100"/>
              <a:ext cx="4274335" cy="2129367"/>
            </a:xfrm>
            <a:prstGeom prst="rect">
              <a:avLst/>
            </a:prstGeom>
          </p:spPr>
          <p:txBody>
            <a:bodyPr anchor="ctr" rtlCol="false" tIns="50800" lIns="50800" bIns="50800" rIns="50800"/>
            <a:lstStyle/>
            <a:p>
              <a:pPr algn="ctr">
                <a:lnSpc>
                  <a:spcPts val="2481"/>
                </a:lnSpc>
              </a:pPr>
            </a:p>
          </p:txBody>
        </p:sp>
      </p:grpSp>
      <p:sp>
        <p:nvSpPr>
          <p:cNvPr name="Freeform 6" id="6"/>
          <p:cNvSpPr/>
          <p:nvPr/>
        </p:nvSpPr>
        <p:spPr>
          <a:xfrm flipH="false" flipV="false" rot="-10800000">
            <a:off x="6125872" y="9311584"/>
            <a:ext cx="6036256" cy="3303478"/>
          </a:xfrm>
          <a:custGeom>
            <a:avLst/>
            <a:gdLst/>
            <a:ahLst/>
            <a:cxnLst/>
            <a:rect r="r" b="b" t="t" l="l"/>
            <a:pathLst>
              <a:path h="3303478" w="6036256">
                <a:moveTo>
                  <a:pt x="0" y="0"/>
                </a:moveTo>
                <a:lnTo>
                  <a:pt x="6036256" y="0"/>
                </a:lnTo>
                <a:lnTo>
                  <a:pt x="6036256" y="3303479"/>
                </a:lnTo>
                <a:lnTo>
                  <a:pt x="0" y="33034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721566" y="1608425"/>
            <a:ext cx="12903754" cy="962151"/>
          </a:xfrm>
          <a:prstGeom prst="rect">
            <a:avLst/>
          </a:prstGeom>
        </p:spPr>
        <p:txBody>
          <a:bodyPr anchor="t" rtlCol="false" tIns="0" lIns="0" bIns="0" rIns="0">
            <a:spAutoFit/>
          </a:bodyPr>
          <a:lstStyle/>
          <a:p>
            <a:pPr algn="ctr">
              <a:lnSpc>
                <a:spcPts val="6751"/>
              </a:lnSpc>
            </a:pPr>
            <a:r>
              <a:rPr lang="en-US" b="true" sz="8439">
                <a:solidFill>
                  <a:srgbClr val="0463B5"/>
                </a:solidFill>
                <a:latin typeface="Roca One Bold"/>
                <a:ea typeface="Roca One Bold"/>
                <a:cs typeface="Roca One Bold"/>
                <a:sym typeface="Roca One Bold"/>
              </a:rPr>
              <a:t>MODULE DESCRIPTION</a:t>
            </a:r>
          </a:p>
        </p:txBody>
      </p:sp>
      <p:sp>
        <p:nvSpPr>
          <p:cNvPr name="TextBox 8" id="8"/>
          <p:cNvSpPr txBox="true"/>
          <p:nvPr/>
        </p:nvSpPr>
        <p:spPr>
          <a:xfrm rot="0">
            <a:off x="2245519" y="2386935"/>
            <a:ext cx="16042481" cy="6053455"/>
          </a:xfrm>
          <a:prstGeom prst="rect">
            <a:avLst/>
          </a:prstGeom>
        </p:spPr>
        <p:txBody>
          <a:bodyPr anchor="t" rtlCol="false" tIns="0" lIns="0" bIns="0" rIns="0">
            <a:spAutoFit/>
          </a:bodyPr>
          <a:lstStyle/>
          <a:p>
            <a:pPr algn="l">
              <a:lnSpc>
                <a:spcPts val="3200"/>
              </a:lnSpc>
              <a:spcBef>
                <a:spcPct val="0"/>
              </a:spcBef>
            </a:pPr>
            <a:r>
              <a:rPr lang="en-US" b="true" sz="3200" spc="48">
                <a:solidFill>
                  <a:srgbClr val="0D1C38"/>
                </a:solidFill>
                <a:latin typeface="Times New Roman Bold"/>
                <a:ea typeface="Times New Roman Bold"/>
                <a:cs typeface="Times New Roman Bold"/>
                <a:sym typeface="Times New Roman Bold"/>
              </a:rPr>
              <a:t>Model Training:</a:t>
            </a:r>
          </a:p>
          <a:p>
            <a:pPr algn="l">
              <a:lnSpc>
                <a:spcPts val="3200"/>
              </a:lnSpc>
              <a:spcBef>
                <a:spcPct val="0"/>
              </a:spcBef>
            </a:pPr>
          </a:p>
          <a:p>
            <a:pPr algn="l">
              <a:lnSpc>
                <a:spcPts val="3200"/>
              </a:lnSpc>
              <a:spcBef>
                <a:spcPct val="0"/>
              </a:spcBef>
            </a:pPr>
            <a:r>
              <a:rPr lang="en-US" sz="3200" spc="48">
                <a:solidFill>
                  <a:srgbClr val="0D1C38"/>
                </a:solidFill>
                <a:latin typeface="Times New Roman"/>
                <a:ea typeface="Times New Roman"/>
                <a:cs typeface="Times New Roman"/>
                <a:sym typeface="Times New Roman"/>
              </a:rPr>
              <a:t>            Use the training dataset to teach models how to identify fraudulent transaction patterns.</a:t>
            </a:r>
          </a:p>
          <a:p>
            <a:pPr algn="l">
              <a:lnSpc>
                <a:spcPts val="3200"/>
              </a:lnSpc>
              <a:spcBef>
                <a:spcPct val="0"/>
              </a:spcBef>
            </a:pPr>
            <a:r>
              <a:rPr lang="en-US" sz="3200" spc="48">
                <a:solidFill>
                  <a:srgbClr val="0D1C38"/>
                </a:solidFill>
                <a:latin typeface="Times New Roman"/>
                <a:ea typeface="Times New Roman"/>
                <a:cs typeface="Times New Roman"/>
                <a:sym typeface="Times New Roman"/>
              </a:rPr>
              <a:t> Optimize hyperparameters to enhance accuracy and reduce false positives.</a:t>
            </a:r>
          </a:p>
          <a:p>
            <a:pPr algn="l">
              <a:lnSpc>
                <a:spcPts val="3200"/>
              </a:lnSpc>
              <a:spcBef>
                <a:spcPct val="0"/>
              </a:spcBef>
            </a:pPr>
          </a:p>
          <a:p>
            <a:pPr algn="l">
              <a:lnSpc>
                <a:spcPts val="3200"/>
              </a:lnSpc>
              <a:spcBef>
                <a:spcPct val="0"/>
              </a:spcBef>
            </a:pPr>
            <a:r>
              <a:rPr lang="en-US" b="true" sz="3200" spc="48">
                <a:solidFill>
                  <a:srgbClr val="0D1C38"/>
                </a:solidFill>
                <a:latin typeface="Times New Roman Bold"/>
                <a:ea typeface="Times New Roman Bold"/>
                <a:cs typeface="Times New Roman Bold"/>
                <a:sym typeface="Times New Roman Bold"/>
              </a:rPr>
              <a:t>Model Evaluation:</a:t>
            </a:r>
          </a:p>
          <a:p>
            <a:pPr algn="l">
              <a:lnSpc>
                <a:spcPts val="3200"/>
              </a:lnSpc>
              <a:spcBef>
                <a:spcPct val="0"/>
              </a:spcBef>
            </a:pPr>
          </a:p>
          <a:p>
            <a:pPr algn="l">
              <a:lnSpc>
                <a:spcPts val="3200"/>
              </a:lnSpc>
              <a:spcBef>
                <a:spcPct val="0"/>
              </a:spcBef>
            </a:pPr>
            <a:r>
              <a:rPr lang="en-US" sz="3200" spc="48">
                <a:solidFill>
                  <a:srgbClr val="0D1C38"/>
                </a:solidFill>
                <a:latin typeface="Times New Roman"/>
                <a:ea typeface="Times New Roman"/>
                <a:cs typeface="Times New Roman"/>
                <a:sym typeface="Times New Roman"/>
              </a:rPr>
              <a:t>            Test the trained models using the testing dataset to measure performance.</a:t>
            </a:r>
          </a:p>
          <a:p>
            <a:pPr algn="l">
              <a:lnSpc>
                <a:spcPts val="3200"/>
              </a:lnSpc>
              <a:spcBef>
                <a:spcPct val="0"/>
              </a:spcBef>
            </a:pPr>
            <a:r>
              <a:rPr lang="en-US" sz="3200" spc="48">
                <a:solidFill>
                  <a:srgbClr val="0D1C38"/>
                </a:solidFill>
                <a:latin typeface="Times New Roman"/>
                <a:ea typeface="Times New Roman"/>
                <a:cs typeface="Times New Roman"/>
                <a:sym typeface="Times New Roman"/>
              </a:rPr>
              <a:t> Evaluate using metrics like accuracy, precision, recall, and F1-score for balanced results.</a:t>
            </a:r>
          </a:p>
          <a:p>
            <a:pPr algn="l">
              <a:lnSpc>
                <a:spcPts val="3200"/>
              </a:lnSpc>
              <a:spcBef>
                <a:spcPct val="0"/>
              </a:spcBef>
            </a:pPr>
          </a:p>
          <a:p>
            <a:pPr algn="l">
              <a:lnSpc>
                <a:spcPts val="3200"/>
              </a:lnSpc>
              <a:spcBef>
                <a:spcPct val="0"/>
              </a:spcBef>
            </a:pPr>
            <a:r>
              <a:rPr lang="en-US" b="true" sz="3200" spc="48">
                <a:solidFill>
                  <a:srgbClr val="0D1C38"/>
                </a:solidFill>
                <a:latin typeface="Times New Roman Bold"/>
                <a:ea typeface="Times New Roman Bold"/>
                <a:cs typeface="Times New Roman Bold"/>
                <a:sym typeface="Times New Roman Bold"/>
              </a:rPr>
              <a:t>Deployment and Monitoring:</a:t>
            </a:r>
          </a:p>
          <a:p>
            <a:pPr algn="l">
              <a:lnSpc>
                <a:spcPts val="3200"/>
              </a:lnSpc>
              <a:spcBef>
                <a:spcPct val="0"/>
              </a:spcBef>
            </a:pPr>
          </a:p>
          <a:p>
            <a:pPr algn="l">
              <a:lnSpc>
                <a:spcPts val="3200"/>
              </a:lnSpc>
              <a:spcBef>
                <a:spcPct val="0"/>
              </a:spcBef>
            </a:pPr>
            <a:r>
              <a:rPr lang="en-US" sz="3200" spc="48">
                <a:solidFill>
                  <a:srgbClr val="0D1C38"/>
                </a:solidFill>
                <a:latin typeface="Times New Roman"/>
                <a:ea typeface="Times New Roman"/>
                <a:cs typeface="Times New Roman"/>
                <a:sym typeface="Times New Roman"/>
              </a:rPr>
              <a:t>             Deploy the selected model into a real-time transaction processing system.</a:t>
            </a:r>
          </a:p>
          <a:p>
            <a:pPr algn="l">
              <a:lnSpc>
                <a:spcPts val="3200"/>
              </a:lnSpc>
              <a:spcBef>
                <a:spcPct val="0"/>
              </a:spcBef>
            </a:pPr>
            <a:r>
              <a:rPr lang="en-US" sz="3200" spc="48">
                <a:solidFill>
                  <a:srgbClr val="0D1C38"/>
                </a:solidFill>
                <a:latin typeface="Times New Roman"/>
                <a:ea typeface="Times New Roman"/>
                <a:cs typeface="Times New Roman"/>
                <a:sym typeface="Times New Roman"/>
              </a:rPr>
              <a:t> Continuously monitor model performance and update it with new transaction data.</a:t>
            </a:r>
          </a:p>
          <a:p>
            <a:pPr algn="l">
              <a:lnSpc>
                <a:spcPts val="3200"/>
              </a:lnSpc>
              <a:spcBef>
                <a:spcPct val="0"/>
              </a:spcBef>
            </a:pPr>
            <a:r>
              <a:rPr lang="en-US" sz="3200" spc="48">
                <a:solidFill>
                  <a:srgbClr val="0D1C38"/>
                </a:solidFill>
                <a:latin typeface="Times New Roman"/>
                <a:ea typeface="Times New Roman"/>
                <a:cs typeface="Times New Roman"/>
                <a:sym typeface="Times New Roman"/>
              </a:rPr>
              <a:t> </a:t>
            </a:r>
          </a:p>
        </p:txBody>
      </p:sp>
      <p:sp>
        <p:nvSpPr>
          <p:cNvPr name="Freeform 9" id="9"/>
          <p:cNvSpPr/>
          <p:nvPr/>
        </p:nvSpPr>
        <p:spPr>
          <a:xfrm flipH="false" flipV="false" rot="0">
            <a:off x="-5640499" y="4365182"/>
            <a:ext cx="8623491" cy="8750775"/>
          </a:xfrm>
          <a:custGeom>
            <a:avLst/>
            <a:gdLst/>
            <a:ahLst/>
            <a:cxnLst/>
            <a:rect r="r" b="b" t="t" l="l"/>
            <a:pathLst>
              <a:path h="8750775" w="8623491">
                <a:moveTo>
                  <a:pt x="0" y="0"/>
                </a:moveTo>
                <a:lnTo>
                  <a:pt x="8623491" y="0"/>
                </a:lnTo>
                <a:lnTo>
                  <a:pt x="8623491" y="8750775"/>
                </a:lnTo>
                <a:lnTo>
                  <a:pt x="0" y="87507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true" rot="0">
            <a:off x="17259300" y="-2357772"/>
            <a:ext cx="8623491" cy="8750775"/>
          </a:xfrm>
          <a:custGeom>
            <a:avLst/>
            <a:gdLst/>
            <a:ahLst/>
            <a:cxnLst/>
            <a:rect r="r" b="b" t="t" l="l"/>
            <a:pathLst>
              <a:path h="8750775" w="8623491">
                <a:moveTo>
                  <a:pt x="8623491" y="8750775"/>
                </a:moveTo>
                <a:lnTo>
                  <a:pt x="0" y="8750775"/>
                </a:lnTo>
                <a:lnTo>
                  <a:pt x="0" y="0"/>
                </a:lnTo>
                <a:lnTo>
                  <a:pt x="8623491" y="0"/>
                </a:lnTo>
                <a:lnTo>
                  <a:pt x="8623491" y="8750775"/>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5597" t="0" r="-15597" b="0"/>
            </a:stretch>
          </a:blipFill>
        </p:spPr>
      </p:sp>
      <p:grpSp>
        <p:nvGrpSpPr>
          <p:cNvPr name="Group 3" id="3"/>
          <p:cNvGrpSpPr/>
          <p:nvPr/>
        </p:nvGrpSpPr>
        <p:grpSpPr>
          <a:xfrm rot="0">
            <a:off x="893640" y="878219"/>
            <a:ext cx="16229114" cy="8229600"/>
            <a:chOff x="0" y="0"/>
            <a:chExt cx="4274335" cy="2167467"/>
          </a:xfrm>
        </p:grpSpPr>
        <p:sp>
          <p:nvSpPr>
            <p:cNvPr name="Freeform 4" id="4"/>
            <p:cNvSpPr/>
            <p:nvPr/>
          </p:nvSpPr>
          <p:spPr>
            <a:xfrm flipH="false" flipV="false" rot="0">
              <a:off x="0" y="0"/>
              <a:ext cx="4274334" cy="2167467"/>
            </a:xfrm>
            <a:custGeom>
              <a:avLst/>
              <a:gdLst/>
              <a:ahLst/>
              <a:cxnLst/>
              <a:rect r="r" b="b" t="t" l="l"/>
              <a:pathLst>
                <a:path h="2167467" w="4274334">
                  <a:moveTo>
                    <a:pt x="0" y="0"/>
                  </a:moveTo>
                  <a:lnTo>
                    <a:pt x="4274334" y="0"/>
                  </a:lnTo>
                  <a:lnTo>
                    <a:pt x="4274334" y="2167467"/>
                  </a:lnTo>
                  <a:lnTo>
                    <a:pt x="0" y="2167467"/>
                  </a:lnTo>
                  <a:close/>
                </a:path>
              </a:pathLst>
            </a:custGeom>
            <a:solidFill>
              <a:srgbClr val="FEFEFE"/>
            </a:solidFill>
          </p:spPr>
        </p:sp>
        <p:sp>
          <p:nvSpPr>
            <p:cNvPr name="TextBox 5" id="5"/>
            <p:cNvSpPr txBox="true"/>
            <p:nvPr/>
          </p:nvSpPr>
          <p:spPr>
            <a:xfrm>
              <a:off x="0" y="38100"/>
              <a:ext cx="4274335" cy="2129367"/>
            </a:xfrm>
            <a:prstGeom prst="rect">
              <a:avLst/>
            </a:prstGeom>
          </p:spPr>
          <p:txBody>
            <a:bodyPr anchor="ctr" rtlCol="false" tIns="50800" lIns="50800" bIns="50800" rIns="50800"/>
            <a:lstStyle/>
            <a:p>
              <a:pPr algn="ctr">
                <a:lnSpc>
                  <a:spcPts val="2481"/>
                </a:lnSpc>
              </a:pPr>
            </a:p>
          </p:txBody>
        </p:sp>
      </p:grpSp>
      <p:sp>
        <p:nvSpPr>
          <p:cNvPr name="Freeform 6" id="6"/>
          <p:cNvSpPr/>
          <p:nvPr/>
        </p:nvSpPr>
        <p:spPr>
          <a:xfrm flipH="true" flipV="true" rot="0">
            <a:off x="16310046" y="-2312817"/>
            <a:ext cx="8623491" cy="8750775"/>
          </a:xfrm>
          <a:custGeom>
            <a:avLst/>
            <a:gdLst/>
            <a:ahLst/>
            <a:cxnLst/>
            <a:rect r="r" b="b" t="t" l="l"/>
            <a:pathLst>
              <a:path h="8750775" w="8623491">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473316" y="3729228"/>
            <a:ext cx="8623491" cy="8750775"/>
          </a:xfrm>
          <a:custGeom>
            <a:avLst/>
            <a:gdLst/>
            <a:ahLst/>
            <a:cxnLst/>
            <a:rect r="r" b="b" t="t" l="l"/>
            <a:pathLst>
              <a:path h="8750775" w="8623491">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10800000">
            <a:off x="6125872" y="9311584"/>
            <a:ext cx="6036256" cy="3303478"/>
          </a:xfrm>
          <a:custGeom>
            <a:avLst/>
            <a:gdLst/>
            <a:ahLst/>
            <a:cxnLst/>
            <a:rect r="r" b="b" t="t" l="l"/>
            <a:pathLst>
              <a:path h="3303478" w="6036256">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917547" y="2700034"/>
            <a:ext cx="14452906" cy="4500245"/>
          </a:xfrm>
          <a:prstGeom prst="rect">
            <a:avLst/>
          </a:prstGeom>
        </p:spPr>
        <p:txBody>
          <a:bodyPr anchor="t" rtlCol="false" tIns="0" lIns="0" bIns="0" rIns="0">
            <a:spAutoFit/>
          </a:bodyPr>
          <a:lstStyle/>
          <a:p>
            <a:pPr algn="l">
              <a:lnSpc>
                <a:spcPts val="4480"/>
              </a:lnSpc>
            </a:pPr>
            <a:r>
              <a:rPr lang="en-US" sz="3200" spc="48">
                <a:solidFill>
                  <a:srgbClr val="0D1C38"/>
                </a:solidFill>
                <a:latin typeface="Times New Roman"/>
                <a:ea typeface="Times New Roman"/>
                <a:cs typeface="Times New Roman"/>
                <a:sym typeface="Times New Roman"/>
              </a:rPr>
              <a:t>Online payment fraud detection using machine learning provides an efficient and intelligent way to identify fraudulent transactions. By analyzing transaction patterns, user behavior, and key features, the system can accurately distinguish between genuine and suspicious activities. Machine learning models such as Logistic Regression, Random Forest, and XGBoost help improve detection accuracy and reduce financial losses. Overall, this approach enhances the security of online payment systems, protects users, and builds trust in digital financial platforms.</a:t>
            </a:r>
          </a:p>
          <a:p>
            <a:pPr algn="l">
              <a:lnSpc>
                <a:spcPts val="4480"/>
              </a:lnSpc>
            </a:pPr>
          </a:p>
        </p:txBody>
      </p:sp>
      <p:sp>
        <p:nvSpPr>
          <p:cNvPr name="TextBox 10" id="10"/>
          <p:cNvSpPr txBox="true"/>
          <p:nvPr/>
        </p:nvSpPr>
        <p:spPr>
          <a:xfrm rot="0">
            <a:off x="5005062" y="1595502"/>
            <a:ext cx="7314637" cy="962151"/>
          </a:xfrm>
          <a:prstGeom prst="rect">
            <a:avLst/>
          </a:prstGeom>
        </p:spPr>
        <p:txBody>
          <a:bodyPr anchor="t" rtlCol="false" tIns="0" lIns="0" bIns="0" rIns="0">
            <a:spAutoFit/>
          </a:bodyPr>
          <a:lstStyle/>
          <a:p>
            <a:pPr algn="l">
              <a:lnSpc>
                <a:spcPts val="6751"/>
              </a:lnSpc>
            </a:pPr>
            <a:r>
              <a:rPr lang="en-US" b="true" sz="8439">
                <a:solidFill>
                  <a:srgbClr val="0463B5"/>
                </a:solidFill>
                <a:latin typeface="Roca One Bold"/>
                <a:ea typeface="Roca One Bold"/>
                <a:cs typeface="Roca One Bold"/>
                <a:sym typeface="Roca One Bold"/>
              </a:rPr>
              <a:t>CONCLUSION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5597" t="0" r="-15597" b="0"/>
            </a:stretch>
          </a:blipFill>
        </p:spPr>
      </p:sp>
      <p:grpSp>
        <p:nvGrpSpPr>
          <p:cNvPr name="Group 3" id="3"/>
          <p:cNvGrpSpPr/>
          <p:nvPr/>
        </p:nvGrpSpPr>
        <p:grpSpPr>
          <a:xfrm rot="0">
            <a:off x="1029443" y="1028700"/>
            <a:ext cx="16229114" cy="8229600"/>
            <a:chOff x="0" y="0"/>
            <a:chExt cx="4274335" cy="2167467"/>
          </a:xfrm>
        </p:grpSpPr>
        <p:sp>
          <p:nvSpPr>
            <p:cNvPr name="Freeform 4" id="4"/>
            <p:cNvSpPr/>
            <p:nvPr/>
          </p:nvSpPr>
          <p:spPr>
            <a:xfrm flipH="false" flipV="false" rot="0">
              <a:off x="0" y="0"/>
              <a:ext cx="4274334" cy="2167467"/>
            </a:xfrm>
            <a:custGeom>
              <a:avLst/>
              <a:gdLst/>
              <a:ahLst/>
              <a:cxnLst/>
              <a:rect r="r" b="b" t="t" l="l"/>
              <a:pathLst>
                <a:path h="2167467" w="4274334">
                  <a:moveTo>
                    <a:pt x="0" y="0"/>
                  </a:moveTo>
                  <a:lnTo>
                    <a:pt x="4274334" y="0"/>
                  </a:lnTo>
                  <a:lnTo>
                    <a:pt x="4274334" y="2167467"/>
                  </a:lnTo>
                  <a:lnTo>
                    <a:pt x="0" y="2167467"/>
                  </a:lnTo>
                  <a:close/>
                </a:path>
              </a:pathLst>
            </a:custGeom>
            <a:solidFill>
              <a:srgbClr val="FEFEFE"/>
            </a:solidFill>
          </p:spPr>
        </p:sp>
        <p:sp>
          <p:nvSpPr>
            <p:cNvPr name="TextBox 5" id="5"/>
            <p:cNvSpPr txBox="true"/>
            <p:nvPr/>
          </p:nvSpPr>
          <p:spPr>
            <a:xfrm>
              <a:off x="0" y="57150"/>
              <a:ext cx="4274335" cy="2110317"/>
            </a:xfrm>
            <a:prstGeom prst="rect">
              <a:avLst/>
            </a:prstGeom>
          </p:spPr>
          <p:txBody>
            <a:bodyPr anchor="ctr" rtlCol="false" tIns="50800" lIns="50800" bIns="50800" rIns="50800"/>
            <a:lstStyle/>
            <a:p>
              <a:pPr algn="ctr">
                <a:lnSpc>
                  <a:spcPts val="2481"/>
                </a:lnSpc>
              </a:pPr>
            </a:p>
          </p:txBody>
        </p:sp>
      </p:grpSp>
      <p:sp>
        <p:nvSpPr>
          <p:cNvPr name="Freeform 6" id="6"/>
          <p:cNvSpPr/>
          <p:nvPr/>
        </p:nvSpPr>
        <p:spPr>
          <a:xfrm flipH="true" flipV="true" rot="0">
            <a:off x="16310046" y="-2312817"/>
            <a:ext cx="8623491" cy="8750775"/>
          </a:xfrm>
          <a:custGeom>
            <a:avLst/>
            <a:gdLst/>
            <a:ahLst/>
            <a:cxnLst/>
            <a:rect r="r" b="b" t="t" l="l"/>
            <a:pathLst>
              <a:path h="8750775" w="8623491">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630940" y="3864288"/>
            <a:ext cx="8623491" cy="8750775"/>
          </a:xfrm>
          <a:custGeom>
            <a:avLst/>
            <a:gdLst/>
            <a:ahLst/>
            <a:cxnLst/>
            <a:rect r="r" b="b" t="t" l="l"/>
            <a:pathLst>
              <a:path h="8750775" w="8623491">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10800000">
            <a:off x="6125872" y="9311584"/>
            <a:ext cx="6036256" cy="3303478"/>
          </a:xfrm>
          <a:custGeom>
            <a:avLst/>
            <a:gdLst/>
            <a:ahLst/>
            <a:cxnLst/>
            <a:rect r="r" b="b" t="t" l="l"/>
            <a:pathLst>
              <a:path h="3303478" w="6036256">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3562592" y="1802751"/>
            <a:ext cx="10173412" cy="962151"/>
          </a:xfrm>
          <a:prstGeom prst="rect">
            <a:avLst/>
          </a:prstGeom>
        </p:spPr>
        <p:txBody>
          <a:bodyPr anchor="t" rtlCol="false" tIns="0" lIns="0" bIns="0" rIns="0">
            <a:spAutoFit/>
          </a:bodyPr>
          <a:lstStyle/>
          <a:p>
            <a:pPr algn="l">
              <a:lnSpc>
                <a:spcPts val="6751"/>
              </a:lnSpc>
            </a:pPr>
            <a:r>
              <a:rPr lang="en-US" sz="8439" b="true">
                <a:solidFill>
                  <a:srgbClr val="0463B5"/>
                </a:solidFill>
                <a:latin typeface="Roca One Bold"/>
                <a:ea typeface="Roca One Bold"/>
                <a:cs typeface="Roca One Bold"/>
                <a:sym typeface="Roca One Bold"/>
              </a:rPr>
              <a:t>REFERENCES</a:t>
            </a:r>
          </a:p>
        </p:txBody>
      </p:sp>
      <p:sp>
        <p:nvSpPr>
          <p:cNvPr name="TextBox 10" id="10"/>
          <p:cNvSpPr txBox="true"/>
          <p:nvPr/>
        </p:nvSpPr>
        <p:spPr>
          <a:xfrm rot="0">
            <a:off x="1430060" y="3375132"/>
            <a:ext cx="15557711" cy="6053455"/>
          </a:xfrm>
          <a:prstGeom prst="rect">
            <a:avLst/>
          </a:prstGeom>
        </p:spPr>
        <p:txBody>
          <a:bodyPr anchor="t" rtlCol="false" tIns="0" lIns="0" bIns="0" rIns="0">
            <a:spAutoFit/>
          </a:bodyPr>
          <a:lstStyle/>
          <a:p>
            <a:pPr algn="just" marL="690881" indent="-345440" lvl="1">
              <a:lnSpc>
                <a:spcPts val="3200"/>
              </a:lnSpc>
              <a:buFont typeface="Arial"/>
              <a:buChar char="•"/>
            </a:pPr>
            <a:r>
              <a:rPr lang="en-US" sz="3200" spc="48">
                <a:solidFill>
                  <a:srgbClr val="0D1C38"/>
                </a:solidFill>
                <a:latin typeface="Times New Roman"/>
                <a:ea typeface="Times New Roman"/>
                <a:cs typeface="Times New Roman"/>
                <a:sym typeface="Times New Roman"/>
              </a:rPr>
              <a:t>A. Dal Pozzolo, O. Caelen, Y.-A. Le Borgne, S. Waterschoot, and G. Bontempi, “Learned lessons in credit card fraud detection from a practitioner perspective,” Expert Systems with Applications, vol. 41, no. 10, pp. 4915–4928, 2014.</a:t>
            </a:r>
          </a:p>
          <a:p>
            <a:pPr algn="just">
              <a:lnSpc>
                <a:spcPts val="3200"/>
              </a:lnSpc>
            </a:pPr>
          </a:p>
          <a:p>
            <a:pPr algn="just" marL="690881" indent="-345440" lvl="1">
              <a:lnSpc>
                <a:spcPts val="3200"/>
              </a:lnSpc>
              <a:buFont typeface="Arial"/>
              <a:buChar char="•"/>
            </a:pPr>
            <a:r>
              <a:rPr lang="en-US" sz="3200" spc="48">
                <a:solidFill>
                  <a:srgbClr val="0D1C38"/>
                </a:solidFill>
                <a:latin typeface="Times New Roman"/>
                <a:ea typeface="Times New Roman"/>
                <a:cs typeface="Times New Roman"/>
                <a:sym typeface="Times New Roman"/>
              </a:rPr>
              <a:t>R. Sharma and A. Gupta, “Online Payment Fraud Detection Using Machine Learning Techniques,” International Research Journal of Engineering and Technology (IRJET), vol. 7, no. 6, pp. 1025–1030, 2020.</a:t>
            </a:r>
          </a:p>
          <a:p>
            <a:pPr algn="just">
              <a:lnSpc>
                <a:spcPts val="3200"/>
              </a:lnSpc>
            </a:pPr>
          </a:p>
          <a:p>
            <a:pPr algn="just" marL="690881" indent="-345440" lvl="1">
              <a:lnSpc>
                <a:spcPts val="3200"/>
              </a:lnSpc>
              <a:buFont typeface="Arial"/>
              <a:buChar char="•"/>
            </a:pPr>
            <a:r>
              <a:rPr lang="en-US" sz="3200" spc="48">
                <a:solidFill>
                  <a:srgbClr val="0D1C38"/>
                </a:solidFill>
                <a:latin typeface="Times New Roman"/>
                <a:ea typeface="Times New Roman"/>
                <a:cs typeface="Times New Roman"/>
                <a:sym typeface="Times New Roman"/>
              </a:rPr>
              <a:t>P. Singh and N. Patel, “Real-Time Fraud Detection in E-Payment Systems Using XGBoost Algorithm,” IEEE Access, vol. 10, pp. 56789–56798, 2022.</a:t>
            </a:r>
          </a:p>
          <a:p>
            <a:pPr algn="just">
              <a:lnSpc>
                <a:spcPts val="3200"/>
              </a:lnSpc>
            </a:pPr>
          </a:p>
          <a:p>
            <a:pPr algn="just" marL="690881" indent="-345440" lvl="1">
              <a:lnSpc>
                <a:spcPts val="3200"/>
              </a:lnSpc>
              <a:buFont typeface="Arial"/>
              <a:buChar char="•"/>
            </a:pPr>
            <a:r>
              <a:rPr lang="en-US" sz="3200" spc="48">
                <a:solidFill>
                  <a:srgbClr val="0D1C38"/>
                </a:solidFill>
                <a:latin typeface="Times New Roman"/>
                <a:ea typeface="Times New Roman"/>
                <a:cs typeface="Times New Roman"/>
                <a:sym typeface="Times New Roman"/>
              </a:rPr>
              <a:t>Y. Kim and J. Lee, “Deep Learning for Credit Card Fraud Detection,” Journal of Information Security and Applications, vol. 58, pp. 102–115, 2021.</a:t>
            </a:r>
          </a:p>
          <a:p>
            <a:pPr algn="just">
              <a:lnSpc>
                <a:spcPts val="3200"/>
              </a:lnSpc>
            </a:pPr>
          </a:p>
          <a:p>
            <a:pPr algn="just">
              <a:lnSpc>
                <a:spcPts val="3200"/>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5597" t="0" r="-15597" b="0"/>
            </a:stretch>
          </a:blipFill>
        </p:spPr>
      </p:sp>
      <p:grpSp>
        <p:nvGrpSpPr>
          <p:cNvPr name="Group 3" id="3"/>
          <p:cNvGrpSpPr/>
          <p:nvPr/>
        </p:nvGrpSpPr>
        <p:grpSpPr>
          <a:xfrm rot="0">
            <a:off x="-235271" y="4565874"/>
            <a:ext cx="5902101" cy="7974702"/>
            <a:chOff x="0" y="0"/>
            <a:chExt cx="7869467" cy="10632936"/>
          </a:xfrm>
        </p:grpSpPr>
        <p:sp>
          <p:nvSpPr>
            <p:cNvPr name="Freeform 4" id="4"/>
            <p:cNvSpPr/>
            <p:nvPr/>
          </p:nvSpPr>
          <p:spPr>
            <a:xfrm flipH="false" flipV="false" rot="0">
              <a:off x="0" y="0"/>
              <a:ext cx="7869467" cy="7869467"/>
            </a:xfrm>
            <a:custGeom>
              <a:avLst/>
              <a:gdLst/>
              <a:ahLst/>
              <a:cxnLst/>
              <a:rect r="r" b="b" t="t" l="l"/>
              <a:pathLst>
                <a:path h="7869467" w="7869467">
                  <a:moveTo>
                    <a:pt x="0" y="0"/>
                  </a:moveTo>
                  <a:lnTo>
                    <a:pt x="7869467" y="0"/>
                  </a:lnTo>
                  <a:lnTo>
                    <a:pt x="7869467" y="7869467"/>
                  </a:lnTo>
                  <a:lnTo>
                    <a:pt x="0" y="78694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313695" y="6497867"/>
              <a:ext cx="7555772" cy="4135068"/>
            </a:xfrm>
            <a:custGeom>
              <a:avLst/>
              <a:gdLst/>
              <a:ahLst/>
              <a:cxnLst/>
              <a:rect r="r" b="b" t="t" l="l"/>
              <a:pathLst>
                <a:path h="4135068" w="7555772">
                  <a:moveTo>
                    <a:pt x="0" y="0"/>
                  </a:moveTo>
                  <a:lnTo>
                    <a:pt x="7555772" y="0"/>
                  </a:lnTo>
                  <a:lnTo>
                    <a:pt x="7555772" y="4135069"/>
                  </a:lnTo>
                  <a:lnTo>
                    <a:pt x="0" y="41350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6" id="6"/>
          <p:cNvGrpSpPr/>
          <p:nvPr/>
        </p:nvGrpSpPr>
        <p:grpSpPr>
          <a:xfrm rot="-10800000">
            <a:off x="12385899" y="-2043853"/>
            <a:ext cx="5902101" cy="7974702"/>
            <a:chOff x="0" y="0"/>
            <a:chExt cx="7869467" cy="10632936"/>
          </a:xfrm>
        </p:grpSpPr>
        <p:sp>
          <p:nvSpPr>
            <p:cNvPr name="Freeform 7" id="7"/>
            <p:cNvSpPr/>
            <p:nvPr/>
          </p:nvSpPr>
          <p:spPr>
            <a:xfrm flipH="false" flipV="false" rot="0">
              <a:off x="0" y="0"/>
              <a:ext cx="7869467" cy="7869467"/>
            </a:xfrm>
            <a:custGeom>
              <a:avLst/>
              <a:gdLst/>
              <a:ahLst/>
              <a:cxnLst/>
              <a:rect r="r" b="b" t="t" l="l"/>
              <a:pathLst>
                <a:path h="7869467" w="7869467">
                  <a:moveTo>
                    <a:pt x="0" y="0"/>
                  </a:moveTo>
                  <a:lnTo>
                    <a:pt x="7869467" y="0"/>
                  </a:lnTo>
                  <a:lnTo>
                    <a:pt x="7869467" y="7869467"/>
                  </a:lnTo>
                  <a:lnTo>
                    <a:pt x="0" y="78694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313695" y="6497867"/>
              <a:ext cx="7555772" cy="4135068"/>
            </a:xfrm>
            <a:custGeom>
              <a:avLst/>
              <a:gdLst/>
              <a:ahLst/>
              <a:cxnLst/>
              <a:rect r="r" b="b" t="t" l="l"/>
              <a:pathLst>
                <a:path h="4135068" w="7555772">
                  <a:moveTo>
                    <a:pt x="0" y="0"/>
                  </a:moveTo>
                  <a:lnTo>
                    <a:pt x="7555772" y="0"/>
                  </a:lnTo>
                  <a:lnTo>
                    <a:pt x="7555772" y="4135069"/>
                  </a:lnTo>
                  <a:lnTo>
                    <a:pt x="0" y="41350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9" id="9"/>
          <p:cNvSpPr/>
          <p:nvPr/>
        </p:nvSpPr>
        <p:spPr>
          <a:xfrm flipH="false" flipV="false" rot="0">
            <a:off x="-2672315" y="-776716"/>
            <a:ext cx="4054948" cy="4114800"/>
          </a:xfrm>
          <a:custGeom>
            <a:avLst/>
            <a:gdLst/>
            <a:ahLst/>
            <a:cxnLst/>
            <a:rect r="r" b="b" t="t" l="l"/>
            <a:pathLst>
              <a:path h="4114800" w="4054948">
                <a:moveTo>
                  <a:pt x="0" y="0"/>
                </a:moveTo>
                <a:lnTo>
                  <a:pt x="4054948" y="0"/>
                </a:lnTo>
                <a:lnTo>
                  <a:pt x="4054948"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true" flipV="true" rot="0">
            <a:off x="16884370" y="7044598"/>
            <a:ext cx="4054948" cy="4114800"/>
          </a:xfrm>
          <a:custGeom>
            <a:avLst/>
            <a:gdLst/>
            <a:ahLst/>
            <a:cxnLst/>
            <a:rect r="r" b="b" t="t" l="l"/>
            <a:pathLst>
              <a:path h="4114800" w="4054948">
                <a:moveTo>
                  <a:pt x="4054949" y="4114800"/>
                </a:moveTo>
                <a:lnTo>
                  <a:pt x="0" y="4114800"/>
                </a:lnTo>
                <a:lnTo>
                  <a:pt x="0" y="0"/>
                </a:lnTo>
                <a:lnTo>
                  <a:pt x="4054949" y="0"/>
                </a:lnTo>
                <a:lnTo>
                  <a:pt x="4054949" y="411480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2282853" y="4014128"/>
            <a:ext cx="12592135" cy="2363518"/>
          </a:xfrm>
          <a:prstGeom prst="rect">
            <a:avLst/>
          </a:prstGeom>
        </p:spPr>
        <p:txBody>
          <a:bodyPr anchor="t" rtlCol="false" tIns="0" lIns="0" bIns="0" rIns="0">
            <a:spAutoFit/>
          </a:bodyPr>
          <a:lstStyle/>
          <a:p>
            <a:pPr algn="l">
              <a:lnSpc>
                <a:spcPts val="18328"/>
              </a:lnSpc>
            </a:pPr>
            <a:r>
              <a:rPr lang="en-US" sz="16219">
                <a:solidFill>
                  <a:srgbClr val="0D1C38"/>
                </a:solidFill>
                <a:latin typeface="Roca One"/>
                <a:ea typeface="Roca One"/>
                <a:cs typeface="Roca One"/>
                <a:sym typeface="Roca On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DAG4gLAURTg</dc:identifier>
  <dcterms:modified xsi:type="dcterms:W3CDTF">2011-08-01T06:04:30Z</dcterms:modified>
  <cp:revision>1</cp:revision>
  <dc:title>ONLINE PAYMENT FRAUD DETECTION USING ML</dc:title>
</cp:coreProperties>
</file>